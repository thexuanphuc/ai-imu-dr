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46b46b58a1_59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46b46b58a1_59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46b46b58a1_89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46b46b58a1_89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in this project, we take the paper from brossard AI IMU dead reckoning </a:t>
            </a:r>
            <a:r>
              <a:rPr lang="en">
                <a:solidFill>
                  <a:schemeClr val="dk1"/>
                </a:solidFill>
              </a:rPr>
              <a:t>as references</a:t>
            </a:r>
            <a:r>
              <a:rPr lang="en"/>
              <a:t>, which was published 5 years ago.</a:t>
            </a:r>
            <a:endParaRPr/>
          </a:p>
          <a:p>
            <a:pPr indent="0" lvl="0" marL="0" rtl="0" algn="l">
              <a:lnSpc>
                <a:spcPct val="115000"/>
              </a:lnSpc>
              <a:spcBef>
                <a:spcPts val="1200"/>
              </a:spcBef>
              <a:spcAft>
                <a:spcPts val="0"/>
              </a:spcAft>
              <a:buClr>
                <a:schemeClr val="dk1"/>
              </a:buClr>
              <a:buSzPts val="1100"/>
              <a:buFont typeface="Arial"/>
              <a:buNone/>
            </a:pPr>
            <a:r>
              <a:rPr lang="en"/>
              <a:t>The challenge is to accurately determine a vehicle's position using only an IMU, which is a sensor that measures rotation and acceleration. Traditional methods struggle because IMU data can be noisy and accumulates error. So it was the main problem to solve here, positioning with only IMU, </a:t>
            </a:r>
            <a:r>
              <a:rPr lang="en">
                <a:solidFill>
                  <a:schemeClr val="dk1"/>
                </a:solidFill>
              </a:rPr>
              <a:t>without others additional sensor like camera, gps, Lidar. </a:t>
            </a:r>
            <a:endParaRPr/>
          </a:p>
          <a:p>
            <a:pPr indent="0" lvl="0" marL="0" rtl="0" algn="l">
              <a:spcBef>
                <a:spcPts val="1200"/>
              </a:spcBef>
              <a:spcAft>
                <a:spcPts val="0"/>
              </a:spcAft>
              <a:buNone/>
            </a:pPr>
            <a:r>
              <a:rPr lang="en"/>
              <a:t> </a:t>
            </a:r>
            <a:r>
              <a:rPr lang="en"/>
              <a:t>Basically</a:t>
            </a:r>
            <a:r>
              <a:rPr lang="en"/>
              <a:t> this paper about using neuron </a:t>
            </a:r>
            <a:r>
              <a:rPr lang="en"/>
              <a:t>network to estimate covariance value for kalman filter, and it can provide very good result 1.1% of translation error. </a:t>
            </a:r>
            <a:br>
              <a:rPr lang="en"/>
            </a:br>
            <a:endParaRPr/>
          </a:p>
          <a:p>
            <a:pPr indent="0" lvl="0" marL="0" rtl="0" algn="l">
              <a:spcBef>
                <a:spcPts val="0"/>
              </a:spcBef>
              <a:spcAft>
                <a:spcPts val="0"/>
              </a:spcAft>
              <a:buNone/>
            </a:pPr>
            <a:r>
              <a:rPr lang="en"/>
              <a:t>And this result can be used as pre process for SLAM, or it can perform reliable positioning when other sensors fail (e.g., tunnels with no GPS.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more detail, in the paper they proposed to use Invariant Kalman filter with pseudo measurements to improve the filters performances.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43d309b4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43d309b4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595959"/>
                </a:solidFill>
              </a:rPr>
              <a:t>This is Kalman filter, working in Lie group, which allow us </a:t>
            </a:r>
            <a:endParaRPr sz="1200">
              <a:solidFill>
                <a:srgbClr val="595959"/>
              </a:solidFill>
            </a:endParaRPr>
          </a:p>
          <a:p>
            <a:pPr indent="-304800" lvl="0" marL="457200" rtl="0" algn="l">
              <a:lnSpc>
                <a:spcPct val="115000"/>
              </a:lnSpc>
              <a:spcBef>
                <a:spcPts val="1200"/>
              </a:spcBef>
              <a:spcAft>
                <a:spcPts val="0"/>
              </a:spcAft>
              <a:buClr>
                <a:srgbClr val="595959"/>
              </a:buClr>
              <a:buSzPts val="1200"/>
              <a:buChar char="+"/>
            </a:pPr>
            <a:r>
              <a:rPr lang="en" sz="1200">
                <a:solidFill>
                  <a:srgbClr val="595959"/>
                </a:solidFill>
              </a:rPr>
              <a:t>to preserve the geometric symmetries properties of the state of </a:t>
            </a:r>
            <a:r>
              <a:rPr lang="en" sz="1200">
                <a:solidFill>
                  <a:schemeClr val="dk1"/>
                </a:solidFill>
              </a:rPr>
              <a:t> system’s dynamics</a:t>
            </a:r>
            <a:endParaRPr sz="1200">
              <a:solidFill>
                <a:schemeClr val="dk1"/>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improve robustness and convergence</a:t>
            </a:r>
            <a:endParaRPr sz="1200">
              <a:solidFill>
                <a:srgbClr val="595959"/>
              </a:solidFill>
            </a:endParaRPr>
          </a:p>
          <a:p>
            <a:pPr indent="0" lvl="0" marL="0" rtl="0" algn="l">
              <a:lnSpc>
                <a:spcPct val="115000"/>
              </a:lnSpc>
              <a:spcBef>
                <a:spcPts val="1200"/>
              </a:spcBef>
              <a:spcAft>
                <a:spcPts val="0"/>
              </a:spcAft>
              <a:buNone/>
            </a:pPr>
            <a:r>
              <a:rPr lang="en" sz="1200">
                <a:solidFill>
                  <a:srgbClr val="595959"/>
                </a:solidFill>
              </a:rPr>
              <a:t>It was anwer from chat gpt, now let break it down step by step:</a:t>
            </a:r>
            <a:endParaRPr sz="1200">
              <a:solidFill>
                <a:srgbClr val="595959"/>
              </a:solidFill>
            </a:endParaRPr>
          </a:p>
          <a:p>
            <a:pPr indent="0" lvl="0" marL="0" rtl="0" algn="l">
              <a:spcBef>
                <a:spcPts val="1200"/>
              </a:spcBef>
              <a:spcAft>
                <a:spcPts val="0"/>
              </a:spcAft>
              <a:buNone/>
            </a:pPr>
            <a:r>
              <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43d309b41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43d309b41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A Lie group is a mathematical frame work that satisfies certain axioms. For example this curve, if we set the constraint is distance to some point equal </a:t>
            </a:r>
            <a:r>
              <a:rPr lang="en" sz="1400">
                <a:solidFill>
                  <a:schemeClr val="dk1"/>
                </a:solidFill>
              </a:rPr>
              <a:t>constant</a:t>
            </a:r>
            <a:r>
              <a:rPr lang="en" sz="1400">
                <a:solidFill>
                  <a:schemeClr val="dk1"/>
                </a:solidFill>
              </a:rPr>
              <a:t>, we have a circle. Similarly in 3D we </a:t>
            </a:r>
            <a:r>
              <a:rPr lang="en" sz="1400">
                <a:solidFill>
                  <a:schemeClr val="dk1"/>
                </a:solidFill>
              </a:rPr>
              <a:t>have</a:t>
            </a:r>
            <a:r>
              <a:rPr lang="en" sz="1400">
                <a:solidFill>
                  <a:schemeClr val="dk1"/>
                </a:solidFill>
              </a:rPr>
              <a:t> a sphere like this. One more additional requirement is this surface should be </a:t>
            </a:r>
            <a:r>
              <a:rPr lang="en" sz="1400">
                <a:solidFill>
                  <a:schemeClr val="dk1"/>
                </a:solidFill>
              </a:rPr>
              <a:t>continuous</a:t>
            </a:r>
            <a:r>
              <a:rPr lang="en" sz="1400">
                <a:solidFill>
                  <a:schemeClr val="dk1"/>
                </a:solidFill>
              </a:rPr>
              <a:t> and smooth (</a:t>
            </a:r>
            <a:r>
              <a:rPr lang="en" sz="1400">
                <a:solidFill>
                  <a:schemeClr val="dk1"/>
                </a:solidFill>
              </a:rPr>
              <a:t> (no pick, jumping))  then we call it Lie group</a:t>
            </a:r>
            <a:endParaRPr sz="1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There exist a mapping function (1 to 1) between Vector space and some point on the surface, which call Exponential map that we learned in the course. </a:t>
            </a:r>
            <a:endParaRPr sz="1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click</a:t>
            </a:r>
            <a:endParaRPr sz="1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There's a mapping function that takes vectors from a vector space and converts them into transformations between points on the surface</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About preservation: Rotational invariance: Translational invariance:Scaling invariance:</a:t>
            </a:r>
            <a:endParaRPr sz="1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Symmetries Preserved</a:t>
            </a:r>
            <a:endParaRPr sz="14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sz="14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43de925ea7_3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43de925ea7_3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So Lie group is a big picture, inside that it has a sub group, that can be useful for us. </a:t>
            </a:r>
            <a:r>
              <a:rPr lang="en" sz="1200">
                <a:solidFill>
                  <a:schemeClr val="dk1"/>
                </a:solidFill>
              </a:rPr>
              <a:t>i</a:t>
            </a:r>
            <a:r>
              <a:rPr lang="en" sz="1200">
                <a:solidFill>
                  <a:schemeClr val="dk1"/>
                </a:solidFill>
              </a:rPr>
              <a:t>t  comes from the Affine Group theory, let images we can write the kinematics or dynamics equation of the </a:t>
            </a:r>
            <a:r>
              <a:rPr lang="en" sz="1200">
                <a:solidFill>
                  <a:schemeClr val="dk1"/>
                </a:solidFill>
              </a:rPr>
              <a:t>system</a:t>
            </a:r>
            <a:r>
              <a:rPr lang="en" sz="1200">
                <a:solidFill>
                  <a:schemeClr val="dk1"/>
                </a:solidFill>
              </a:rPr>
              <a:t> as a function f. Now if this f function satisfies this properties, and the epsilon here is difference between chi1 and chi2 inside Lie group.</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We can write this error as linear function in vector space, this result is realy important, because the matrix F here, which was essentially covariance matrix doesnt depend on the previous estimated state. </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The filter’s error dynamics remain consistent under transformations like rotations, translations, or scalings. Which mean the jacobian matrix, doesnt depends on the previous estimated state. Hence we dont need to worry our wrong estimated state will negatively affect the filter</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To obtain this, we need to find the choice of class coordinates systems, we get the error propagation is linear first order function</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If we dont do this, we get the Jacobian depends on the state -&gt; more wrong the state -&gt; more wrong covariance -&gt; more wrong estimation</a:t>
            </a:r>
            <a:endParaRPr sz="1200">
              <a:solidFill>
                <a:schemeClr val="dk1"/>
              </a:solidFill>
            </a:endParaRPr>
          </a:p>
          <a:p>
            <a:pPr indent="0" lvl="0" marL="0" rtl="0" algn="l">
              <a:spcBef>
                <a:spcPts val="120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3de925ea7_7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3de925ea7_7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From IMU we can integrate acceleration triple time and find the position of the car, but it was harmful because of noise biases, misalignment . now we need to find the way to model it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we introduce a state-space model for wheeled vehicles, between the </a:t>
            </a:r>
            <a:r>
              <a:rPr lang="en"/>
              <a:t>choice</a:t>
            </a:r>
            <a:r>
              <a:rPr lang="en"/>
              <a:t> for reference frame, as a recommendation that keep the frame with highest order of </a:t>
            </a:r>
            <a:r>
              <a:rPr lang="en"/>
              <a:t>differentiation</a:t>
            </a:r>
            <a:r>
              <a:rPr lang="en"/>
              <a:t> as reference frame.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6b46b58a1_89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6b46b58a1_89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the idea here is to mix the Lie element State and vector state into kalman filter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when we go to check the the condition of Affine group (if this affine group theory is satisfied, we have a beautiful dynamic error model, and Jacobian matrix is not depends on the Previous estimation). But the problem is that is was not satisfied, hence we need to introduce  a new LIE group (extension of the Lie group SE(3))</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6b46b58a1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46b46b58a1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the idea here is combine vector space and Lie space into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46b46b58a1_89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46b46b58a1_89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after </a:t>
            </a:r>
            <a:r>
              <a:rPr lang="en"/>
              <a:t>transform</a:t>
            </a:r>
            <a:r>
              <a:rPr lang="en"/>
              <a:t> the IMU state into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46b46b58a1_89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46b46b58a1_89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take the side information about the movement of car, we know that </a:t>
            </a:r>
            <a:r>
              <a:rPr lang="en" sz="1700"/>
              <a:t>in car </a:t>
            </a:r>
            <a:r>
              <a:rPr lang="en" sz="1700"/>
              <a:t>frame</a:t>
            </a:r>
            <a:r>
              <a:rPr lang="en"/>
              <a:t>, the car can only move forward, </a:t>
            </a:r>
            <a:r>
              <a:rPr lang="en"/>
              <a:t>without</a:t>
            </a:r>
            <a:r>
              <a:rPr lang="en"/>
              <a:t> moving on lateral y direction and vertical direction</a:t>
            </a:r>
            <a:br>
              <a:rPr lang="en"/>
            </a:br>
            <a:br>
              <a:rPr lang="en"/>
            </a:br>
            <a:r>
              <a:rPr lang="en"/>
              <a:t>Hence we have the </a:t>
            </a:r>
            <a:r>
              <a:rPr lang="en"/>
              <a:t>constraints</a:t>
            </a:r>
            <a:r>
              <a:rPr lang="en"/>
              <a:t> is these 2 velocities should be equal to zero. But to align this equation into Kalman filter framework, we loose the constraints, not </a:t>
            </a:r>
            <a:r>
              <a:rPr lang="en"/>
              <a:t>exactly</a:t>
            </a:r>
            <a:r>
              <a:rPr lang="en"/>
              <a:t> zeros  but zeros + some noise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43de925ea7_7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43de925ea7_7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can see the filter perform pretty well,</a:t>
            </a:r>
            <a:endParaRPr/>
          </a:p>
          <a:p>
            <a:pPr indent="-298450" lvl="0" marL="457200" rtl="0" algn="l">
              <a:spcBef>
                <a:spcPts val="0"/>
              </a:spcBef>
              <a:spcAft>
                <a:spcPts val="0"/>
              </a:spcAft>
              <a:buSzPts val="1100"/>
              <a:buChar char="+"/>
            </a:pPr>
            <a:r>
              <a:rPr lang="en"/>
              <a:t>Especially when we are moving in a straight line,</a:t>
            </a:r>
            <a:endParaRPr/>
          </a:p>
          <a:p>
            <a:pPr indent="0" lvl="0" marL="0" rtl="0" algn="l">
              <a:spcBef>
                <a:spcPts val="0"/>
              </a:spcBef>
              <a:spcAft>
                <a:spcPts val="0"/>
              </a:spcAft>
              <a:buNone/>
            </a:pPr>
            <a:r>
              <a:rPr lang="en"/>
              <a:t>+ taken in to account the mis alignment of axis and translation vector as state in filter help to reduce the error from 2% to 1.1 %</a:t>
            </a:r>
            <a:endParaRPr/>
          </a:p>
          <a:p>
            <a:pPr indent="0" lvl="0" marL="0" rtl="0" algn="l">
              <a:spcBef>
                <a:spcPts val="0"/>
              </a:spcBef>
              <a:spcAft>
                <a:spcPts val="0"/>
              </a:spcAft>
              <a:buNone/>
            </a:pPr>
            <a:r>
              <a:rPr lang="en"/>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46b46b58a1_89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46b46b58a1_89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46b46b58a1_89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46b46b58a1_89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3de925ea7_74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43de925ea7_74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43de925ea7_74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43de925ea7_74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46b46b58a1_649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46b46b58a1_649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46b46b58a1_649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46b46b58a1_649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3de925ea7_7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3de925ea7_7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43de925ea7_74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43de925ea7_74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46b46b58a1_649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46b46b58a1_649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46b46b58a1_649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46b46b58a1_649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default</a:t>
            </a:r>
            <a:r>
              <a:rPr lang="en"/>
              <a:t> value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43de925ea7_74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43de925ea7_74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Limitations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Sensor Dependence</a:t>
            </a:r>
            <a:r>
              <a:rPr lang="en">
                <a:solidFill>
                  <a:schemeClr val="dk1"/>
                </a:solidFill>
              </a:rPr>
              <a:t>: The current approach relies heavily on specific sensor configurations, which may limit its applicability across different systems or environments.</a:t>
            </a:r>
            <a:br>
              <a:rPr lang="en">
                <a:solidFill>
                  <a:schemeClr val="dk1"/>
                </a:solidFill>
              </a:rPr>
            </a:br>
            <a:endParaRPr>
              <a:solidFill>
                <a:schemeClr val="dk1"/>
              </a:solidFill>
            </a:endParaRPr>
          </a:p>
          <a:p>
            <a:pPr indent="-298450" lvl="0" marL="457200" rtl="0" algn="l">
              <a:lnSpc>
                <a:spcPct val="150000"/>
              </a:lnSpc>
              <a:spcBef>
                <a:spcPts val="0"/>
              </a:spcBef>
              <a:spcAft>
                <a:spcPts val="0"/>
              </a:spcAft>
              <a:buClr>
                <a:schemeClr val="dk1"/>
              </a:buClr>
              <a:buSzPts val="1100"/>
              <a:buChar char="●"/>
            </a:pPr>
            <a:r>
              <a:rPr lang="en">
                <a:solidFill>
                  <a:schemeClr val="dk1"/>
                </a:solidFill>
              </a:rPr>
              <a:t>Lost Function: Only translation error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Future Directions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Exploring Different CNN Architectures</a:t>
            </a:r>
            <a:r>
              <a:rPr lang="en">
                <a:solidFill>
                  <a:schemeClr val="dk1"/>
                </a:solidFill>
              </a:rPr>
              <a:t>: Investigating various Convolutional Neural Network (CNN) architectures to improve the model's performance and adaptability in different scenarios.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Incorporating Angular Acceleration</a:t>
            </a:r>
            <a:r>
              <a:rPr lang="en">
                <a:solidFill>
                  <a:schemeClr val="dk1"/>
                </a:solidFill>
              </a:rPr>
              <a:t>: Accounting for the angular acceleration of vehicles, particularly in dynamic situations like drifting or car racing competitions, to enhance the accuracy and robustness of the system.</a:t>
            </a:r>
            <a:br>
              <a:rPr lang="en">
                <a:solidFill>
                  <a:schemeClr val="dk1"/>
                </a:solidFill>
              </a:rPr>
            </a:b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46b46b58a1_59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46b46b58a1_59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2.png"/><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7.png"/><Relationship Id="rId4" Type="http://schemas.openxmlformats.org/officeDocument/2006/relationships/image" Target="../media/image30.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1.png"/><Relationship Id="rId10" Type="http://schemas.openxmlformats.org/officeDocument/2006/relationships/image" Target="../media/image18.png"/><Relationship Id="rId9"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4.png"/><Relationship Id="rId11" Type="http://schemas.openxmlformats.org/officeDocument/2006/relationships/image" Target="../media/image22.png"/><Relationship Id="rId10" Type="http://schemas.openxmlformats.org/officeDocument/2006/relationships/image" Target="../media/image19.png"/><Relationship Id="rId12" Type="http://schemas.openxmlformats.org/officeDocument/2006/relationships/image" Target="../media/image26.png"/><Relationship Id="rId9"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55.png"/><Relationship Id="rId7" Type="http://schemas.openxmlformats.org/officeDocument/2006/relationships/image" Target="../media/image24.png"/><Relationship Id="rId8" Type="http://schemas.openxmlformats.org/officeDocument/2006/relationships/image" Target="../media/image29.png"/></Relationships>
</file>

<file path=ppt/slides/_rels/slide8.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19.png"/><Relationship Id="rId13" Type="http://schemas.openxmlformats.org/officeDocument/2006/relationships/image" Target="../media/image23.png"/><Relationship Id="rId12" Type="http://schemas.openxmlformats.org/officeDocument/2006/relationships/image" Target="../media/image28.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20.png"/><Relationship Id="rId14" Type="http://schemas.openxmlformats.org/officeDocument/2006/relationships/image" Target="../media/image25.png"/><Relationship Id="rId5" Type="http://schemas.openxmlformats.org/officeDocument/2006/relationships/image" Target="../media/image21.png"/><Relationship Id="rId6" Type="http://schemas.openxmlformats.org/officeDocument/2006/relationships/image" Target="../media/image55.png"/><Relationship Id="rId7" Type="http://schemas.openxmlformats.org/officeDocument/2006/relationships/image" Target="../media/image24.png"/><Relationship Id="rId8" Type="http://schemas.openxmlformats.org/officeDocument/2006/relationships/image" Target="../media/image29.png"/></Relationships>
</file>

<file path=ppt/slides/_rels/slide9.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19.png"/><Relationship Id="rId13" Type="http://schemas.openxmlformats.org/officeDocument/2006/relationships/image" Target="../media/image23.png"/><Relationship Id="rId12" Type="http://schemas.openxmlformats.org/officeDocument/2006/relationships/image" Target="../media/image28.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20.png"/><Relationship Id="rId15" Type="http://schemas.openxmlformats.org/officeDocument/2006/relationships/image" Target="../media/image1.png"/><Relationship Id="rId14" Type="http://schemas.openxmlformats.org/officeDocument/2006/relationships/image" Target="../media/image25.png"/><Relationship Id="rId5" Type="http://schemas.openxmlformats.org/officeDocument/2006/relationships/image" Target="../media/image21.png"/><Relationship Id="rId6" Type="http://schemas.openxmlformats.org/officeDocument/2006/relationships/image" Target="../media/image55.png"/><Relationship Id="rId7" Type="http://schemas.openxmlformats.org/officeDocument/2006/relationships/image" Target="../media/image24.png"/><Relationship Id="rId8"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3.png"/><Relationship Id="rId4" Type="http://schemas.openxmlformats.org/officeDocument/2006/relationships/image" Target="../media/image45.png"/><Relationship Id="rId5" Type="http://schemas.openxmlformats.org/officeDocument/2006/relationships/image" Target="../media/image44.png"/><Relationship Id="rId6"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4.png"/><Relationship Id="rId4" Type="http://schemas.openxmlformats.org/officeDocument/2006/relationships/image" Target="../media/image4.gif"/><Relationship Id="rId5" Type="http://schemas.openxmlformats.org/officeDocument/2006/relationships/image" Target="../media/image57.png"/><Relationship Id="rId6" Type="http://schemas.openxmlformats.org/officeDocument/2006/relationships/image" Target="../media/image5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0.png"/><Relationship Id="rId4" Type="http://schemas.openxmlformats.org/officeDocument/2006/relationships/image" Target="../media/image65.png"/><Relationship Id="rId5" Type="http://schemas.openxmlformats.org/officeDocument/2006/relationships/image" Target="../media/image53.png"/><Relationship Id="rId6" Type="http://schemas.openxmlformats.org/officeDocument/2006/relationships/image" Target="../media/image60.png"/><Relationship Id="rId7" Type="http://schemas.openxmlformats.org/officeDocument/2006/relationships/image" Target="../media/image66.png"/><Relationship Id="rId8" Type="http://schemas.openxmlformats.org/officeDocument/2006/relationships/image" Target="../media/image5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39.png"/><Relationship Id="rId5" Type="http://schemas.openxmlformats.org/officeDocument/2006/relationships/image" Target="../media/image37.png"/><Relationship Id="rId6" Type="http://schemas.openxmlformats.org/officeDocument/2006/relationships/image" Target="../media/image35.png"/><Relationship Id="rId7" Type="http://schemas.openxmlformats.org/officeDocument/2006/relationships/image" Target="../media/image38.png"/><Relationship Id="rId8" Type="http://schemas.openxmlformats.org/officeDocument/2006/relationships/image" Target="../media/image4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1.png"/><Relationship Id="rId4" Type="http://schemas.openxmlformats.org/officeDocument/2006/relationships/image" Target="../media/image46.png"/><Relationship Id="rId9" Type="http://schemas.openxmlformats.org/officeDocument/2006/relationships/image" Target="../media/image56.png"/><Relationship Id="rId5" Type="http://schemas.openxmlformats.org/officeDocument/2006/relationships/image" Target="../media/image43.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8.png"/><Relationship Id="rId4" Type="http://schemas.openxmlformats.org/officeDocument/2006/relationships/image" Target="../media/image54.png"/><Relationship Id="rId5"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8.png"/><Relationship Id="rId4" Type="http://schemas.openxmlformats.org/officeDocument/2006/relationships/image" Target="../media/image54.png"/><Relationship Id="rId5"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8.png"/><Relationship Id="rId4" Type="http://schemas.openxmlformats.org/officeDocument/2006/relationships/image" Target="../media/image54.png"/><Relationship Id="rId5" Type="http://schemas.openxmlformats.org/officeDocument/2006/relationships/image" Target="../media/image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7.png"/><Relationship Id="rId4" Type="http://schemas.openxmlformats.org/officeDocument/2006/relationships/image" Target="../media/image69.png"/><Relationship Id="rId5" Type="http://schemas.openxmlformats.org/officeDocument/2006/relationships/image" Target="../media/image7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4.png"/><Relationship Id="rId4" Type="http://schemas.openxmlformats.org/officeDocument/2006/relationships/image" Target="../media/image6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4.png"/><Relationship Id="rId4" Type="http://schemas.openxmlformats.org/officeDocument/2006/relationships/image" Target="../media/image63.png"/><Relationship Id="rId5"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17839"/>
            <a:ext cx="9144003" cy="5161341"/>
          </a:xfrm>
          <a:prstGeom prst="rect">
            <a:avLst/>
          </a:prstGeom>
          <a:noFill/>
          <a:ln cap="flat" cmpd="sng" w="9525">
            <a:solidFill>
              <a:srgbClr val="FFFFFF"/>
            </a:solidFill>
            <a:prstDash val="solid"/>
            <a:round/>
            <a:headEnd len="sm" w="sm" type="none"/>
            <a:tailEnd len="sm" w="sm" type="none"/>
          </a:ln>
        </p:spPr>
      </p:pic>
      <p:sp>
        <p:nvSpPr>
          <p:cNvPr id="55" name="Google Shape;55;p13"/>
          <p:cNvSpPr txBox="1"/>
          <p:nvPr>
            <p:ph type="ctrTitle"/>
          </p:nvPr>
        </p:nvSpPr>
        <p:spPr>
          <a:xfrm>
            <a:off x="260275" y="508550"/>
            <a:ext cx="8520600" cy="3111600"/>
          </a:xfrm>
          <a:prstGeom prst="rect">
            <a:avLst/>
          </a:prstGeom>
          <a:noFill/>
          <a:ln cap="flat" cmpd="sng" w="9525">
            <a:solidFill>
              <a:schemeClr val="lt1"/>
            </a:solidFill>
            <a:prstDash val="solid"/>
            <a:round/>
            <a:headEnd len="sm" w="sm" type="none"/>
            <a:tailEnd len="sm" w="sm" type="none"/>
          </a:ln>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rPr>
              <a:t>Final Project</a:t>
            </a:r>
            <a:endParaRPr>
              <a:solidFill>
                <a:schemeClr val="lt1"/>
              </a:solidFill>
            </a:endParaRPr>
          </a:p>
          <a:p>
            <a:pPr indent="0" lvl="0" marL="0" rtl="0" algn="ctr">
              <a:spcBef>
                <a:spcPts val="0"/>
              </a:spcBef>
              <a:spcAft>
                <a:spcPts val="0"/>
              </a:spcAft>
              <a:buNone/>
            </a:pPr>
            <a:r>
              <a:rPr lang="en">
                <a:solidFill>
                  <a:schemeClr val="lt1"/>
                </a:solidFill>
              </a:rPr>
              <a:t>AI IMU ++</a:t>
            </a:r>
            <a:endParaRPr>
              <a:solidFill>
                <a:schemeClr val="lt1"/>
              </a:solidFill>
            </a:endParaRPr>
          </a:p>
          <a:p>
            <a:pPr indent="0" lvl="0" marL="0" rtl="0" algn="ctr">
              <a:spcBef>
                <a:spcPts val="0"/>
              </a:spcBef>
              <a:spcAft>
                <a:spcPts val="0"/>
              </a:spcAft>
              <a:buNone/>
            </a:pPr>
            <a:r>
              <a:rPr lang="en" sz="2200">
                <a:solidFill>
                  <a:schemeClr val="lt1"/>
                </a:solidFill>
              </a:rPr>
              <a:t>Based on article:</a:t>
            </a:r>
            <a:endParaRPr sz="2200">
              <a:solidFill>
                <a:schemeClr val="lt1"/>
              </a:solidFill>
            </a:endParaRPr>
          </a:p>
          <a:p>
            <a:pPr indent="0" lvl="0" marL="0" rtl="0" algn="ctr">
              <a:spcBef>
                <a:spcPts val="0"/>
              </a:spcBef>
              <a:spcAft>
                <a:spcPts val="0"/>
              </a:spcAft>
              <a:buClr>
                <a:schemeClr val="dk1"/>
              </a:buClr>
              <a:buSzPts val="1100"/>
              <a:buFont typeface="Arial"/>
              <a:buNone/>
            </a:pPr>
            <a:r>
              <a:rPr lang="en" sz="2200">
                <a:solidFill>
                  <a:schemeClr val="lt1"/>
                </a:solidFill>
              </a:rPr>
              <a:t>AI-IMU Dead-Reckoning</a:t>
            </a:r>
            <a:endParaRPr sz="2200">
              <a:solidFill>
                <a:schemeClr val="lt1"/>
              </a:solidFill>
            </a:endParaRPr>
          </a:p>
          <a:p>
            <a:pPr indent="0" lvl="0" marL="0" rtl="0" algn="ctr">
              <a:spcBef>
                <a:spcPts val="0"/>
              </a:spcBef>
              <a:spcAft>
                <a:spcPts val="0"/>
              </a:spcAft>
              <a:buNone/>
            </a:pPr>
            <a:r>
              <a:rPr lang="en" sz="2200">
                <a:solidFill>
                  <a:schemeClr val="lt1"/>
                </a:solidFill>
              </a:rPr>
              <a:t>Martin Rossard, Axel Barrau and Silvere Bonnabel</a:t>
            </a:r>
            <a:endParaRPr sz="2200">
              <a:solidFill>
                <a:schemeClr val="lt1"/>
              </a:solidFill>
            </a:endParaRPr>
          </a:p>
        </p:txBody>
      </p:sp>
      <p:sp>
        <p:nvSpPr>
          <p:cNvPr id="56" name="Google Shape;56;p13"/>
          <p:cNvSpPr txBox="1"/>
          <p:nvPr>
            <p:ph idx="1" type="subTitle"/>
          </p:nvPr>
        </p:nvSpPr>
        <p:spPr>
          <a:xfrm>
            <a:off x="5883000" y="3661275"/>
            <a:ext cx="3135300" cy="11118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605"/>
              <a:buNone/>
            </a:pPr>
            <a:r>
              <a:rPr lang="en" sz="1740">
                <a:solidFill>
                  <a:schemeClr val="lt1"/>
                </a:solidFill>
              </a:rPr>
              <a:t>Student: 		</a:t>
            </a:r>
            <a:r>
              <a:rPr lang="en" sz="1740">
                <a:solidFill>
                  <a:schemeClr val="lt1"/>
                </a:solidFill>
              </a:rPr>
              <a:t>Max Alymov</a:t>
            </a:r>
            <a:endParaRPr sz="1740">
              <a:solidFill>
                <a:schemeClr val="lt1"/>
              </a:solidFill>
            </a:endParaRPr>
          </a:p>
          <a:p>
            <a:pPr indent="457200" lvl="0" marL="914400" rtl="0" algn="l">
              <a:lnSpc>
                <a:spcPct val="80000"/>
              </a:lnSpc>
              <a:spcBef>
                <a:spcPts val="0"/>
              </a:spcBef>
              <a:spcAft>
                <a:spcPts val="0"/>
              </a:spcAft>
              <a:buClr>
                <a:schemeClr val="dk1"/>
              </a:buClr>
              <a:buSzPts val="605"/>
              <a:buFont typeface="Arial"/>
              <a:buNone/>
            </a:pPr>
            <a:r>
              <a:rPr lang="en" sz="1740">
                <a:solidFill>
                  <a:schemeClr val="lt1"/>
                </a:solidFill>
              </a:rPr>
              <a:t>Xuan Nguyen</a:t>
            </a:r>
            <a:endParaRPr sz="1740">
              <a:solidFill>
                <a:schemeClr val="lt1"/>
              </a:solidFill>
            </a:endParaRPr>
          </a:p>
          <a:p>
            <a:pPr indent="457200" lvl="0" marL="914400" rtl="0" algn="l">
              <a:lnSpc>
                <a:spcPct val="80000"/>
              </a:lnSpc>
              <a:spcBef>
                <a:spcPts val="0"/>
              </a:spcBef>
              <a:spcAft>
                <a:spcPts val="0"/>
              </a:spcAft>
              <a:buSzPts val="605"/>
              <a:buNone/>
            </a:pPr>
            <a:r>
              <a:t/>
            </a:r>
            <a:endParaRPr sz="1740">
              <a:solidFill>
                <a:schemeClr val="lt1"/>
              </a:solidFill>
            </a:endParaRPr>
          </a:p>
          <a:p>
            <a:pPr indent="0" lvl="0" marL="0" rtl="0" algn="l">
              <a:lnSpc>
                <a:spcPct val="80000"/>
              </a:lnSpc>
              <a:spcBef>
                <a:spcPts val="0"/>
              </a:spcBef>
              <a:spcAft>
                <a:spcPts val="0"/>
              </a:spcAft>
              <a:buSzPts val="605"/>
              <a:buNone/>
            </a:pPr>
            <a:r>
              <a:rPr lang="en" sz="1740">
                <a:solidFill>
                  <a:schemeClr val="lt1"/>
                </a:solidFill>
              </a:rPr>
              <a:t>Instructor:  	Gonzalo Ferrer</a:t>
            </a:r>
            <a:endParaRPr sz="174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4294967295" type="title"/>
          </p:nvPr>
        </p:nvSpPr>
        <p:spPr>
          <a:xfrm>
            <a:off x="229375" y="205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Overview</a:t>
            </a:r>
            <a:endParaRPr/>
          </a:p>
        </p:txBody>
      </p:sp>
      <p:pic>
        <p:nvPicPr>
          <p:cNvPr id="62" name="Google Shape;62;p14"/>
          <p:cNvPicPr preferRelativeResize="0"/>
          <p:nvPr/>
        </p:nvPicPr>
        <p:blipFill>
          <a:blip r:embed="rId3">
            <a:alphaModFix/>
          </a:blip>
          <a:stretch>
            <a:fillRect/>
          </a:stretch>
        </p:blipFill>
        <p:spPr>
          <a:xfrm>
            <a:off x="317025" y="1055200"/>
            <a:ext cx="5065198" cy="3712475"/>
          </a:xfrm>
          <a:prstGeom prst="rect">
            <a:avLst/>
          </a:prstGeom>
          <a:noFill/>
          <a:ln>
            <a:noFill/>
          </a:ln>
        </p:spPr>
      </p:pic>
      <p:pic>
        <p:nvPicPr>
          <p:cNvPr id="63" name="Google Shape;63;p14" title="08.gif"/>
          <p:cNvPicPr preferRelativeResize="0"/>
          <p:nvPr/>
        </p:nvPicPr>
        <p:blipFill>
          <a:blip r:embed="rId4">
            <a:alphaModFix/>
          </a:blip>
          <a:stretch>
            <a:fillRect/>
          </a:stretch>
        </p:blipFill>
        <p:spPr>
          <a:xfrm>
            <a:off x="3068375" y="2268400"/>
            <a:ext cx="2378525" cy="2528650"/>
          </a:xfrm>
          <a:prstGeom prst="rect">
            <a:avLst/>
          </a:prstGeom>
          <a:noFill/>
          <a:ln>
            <a:noFill/>
          </a:ln>
        </p:spPr>
      </p:pic>
      <p:sp>
        <p:nvSpPr>
          <p:cNvPr id="64" name="Google Shape;64;p14"/>
          <p:cNvSpPr txBox="1"/>
          <p:nvPr/>
        </p:nvSpPr>
        <p:spPr>
          <a:xfrm>
            <a:off x="5567600" y="1103175"/>
            <a:ext cx="3485100" cy="25398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2"/>
              </a:buClr>
              <a:buSzPts val="1800"/>
              <a:buChar char="●"/>
            </a:pPr>
            <a:r>
              <a:rPr lang="en" sz="1800">
                <a:solidFill>
                  <a:schemeClr val="dk2"/>
                </a:solidFill>
              </a:rPr>
              <a:t>Self-calibrates IMU</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sz="1800">
                <a:solidFill>
                  <a:schemeClr val="dk2"/>
                </a:solidFill>
              </a:rPr>
              <a:t>Invariant EKF</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sz="1800">
                <a:solidFill>
                  <a:schemeClr val="dk2"/>
                </a:solidFill>
              </a:rPr>
              <a:t>Pseudo Measurement</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sz="1800">
                <a:solidFill>
                  <a:schemeClr val="dk2"/>
                </a:solidFill>
              </a:rPr>
              <a:t>CNN Covariance Estimator</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sz="1800">
                <a:solidFill>
                  <a:schemeClr val="dk2"/>
                </a:solidFill>
              </a:rPr>
              <a:t>1.1 % translation error on KITTI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275900" y="216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and Why Invariant Extended Kalman Filter</a:t>
            </a:r>
            <a:endParaRPr/>
          </a:p>
        </p:txBody>
      </p:sp>
      <p:sp>
        <p:nvSpPr>
          <p:cNvPr id="70" name="Google Shape;70;p15"/>
          <p:cNvSpPr txBox="1"/>
          <p:nvPr/>
        </p:nvSpPr>
        <p:spPr>
          <a:xfrm>
            <a:off x="1440800" y="1169725"/>
            <a:ext cx="6678600" cy="554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2400"/>
              <a:t>Kalman filters working on Lie groups</a:t>
            </a:r>
            <a:endParaRPr sz="2400"/>
          </a:p>
        </p:txBody>
      </p:sp>
      <p:sp>
        <p:nvSpPr>
          <p:cNvPr id="71" name="Google Shape;71;p15"/>
          <p:cNvSpPr txBox="1"/>
          <p:nvPr/>
        </p:nvSpPr>
        <p:spPr>
          <a:xfrm>
            <a:off x="2340600" y="1887050"/>
            <a:ext cx="7344300" cy="2339700"/>
          </a:xfrm>
          <a:prstGeom prst="rect">
            <a:avLst/>
          </a:prstGeom>
          <a:noFill/>
          <a:ln>
            <a:noFill/>
          </a:ln>
        </p:spPr>
        <p:txBody>
          <a:bodyPr anchorCtr="0" anchor="t" bIns="91425" lIns="91425" spcFirstLastPara="1" rIns="91425" wrap="square" tIns="91425">
            <a:spAutoFit/>
          </a:bodyPr>
          <a:lstStyle/>
          <a:p>
            <a:pPr indent="-355600" lvl="0" marL="457200" rtl="0" algn="l">
              <a:lnSpc>
                <a:spcPct val="200000"/>
              </a:lnSpc>
              <a:spcBef>
                <a:spcPts val="0"/>
              </a:spcBef>
              <a:spcAft>
                <a:spcPts val="0"/>
              </a:spcAft>
              <a:buClr>
                <a:schemeClr val="dk1"/>
              </a:buClr>
              <a:buSzPts val="2000"/>
              <a:buChar char="●"/>
            </a:pPr>
            <a:r>
              <a:rPr lang="en" sz="2000">
                <a:solidFill>
                  <a:schemeClr val="dk1"/>
                </a:solidFill>
              </a:rPr>
              <a:t>Preservation of Geometric Symmetries</a:t>
            </a:r>
            <a:endParaRPr sz="2000">
              <a:solidFill>
                <a:schemeClr val="dk1"/>
              </a:solidFill>
            </a:endParaRPr>
          </a:p>
          <a:p>
            <a:pPr indent="-355600" lvl="0" marL="457200" rtl="0" algn="l">
              <a:lnSpc>
                <a:spcPct val="200000"/>
              </a:lnSpc>
              <a:spcBef>
                <a:spcPts val="0"/>
              </a:spcBef>
              <a:spcAft>
                <a:spcPts val="0"/>
              </a:spcAft>
              <a:buClr>
                <a:schemeClr val="dk1"/>
              </a:buClr>
              <a:buSzPts val="2000"/>
              <a:buChar char="●"/>
            </a:pPr>
            <a:r>
              <a:rPr lang="en" sz="2000">
                <a:solidFill>
                  <a:schemeClr val="dk1"/>
                </a:solidFill>
              </a:rPr>
              <a:t>Improved Robustness and Convergence</a:t>
            </a:r>
            <a:endParaRPr sz="2000">
              <a:solidFill>
                <a:schemeClr val="dk1"/>
              </a:solidFill>
            </a:endParaRPr>
          </a:p>
          <a:p>
            <a:pPr indent="-355600" lvl="0" marL="457200" rtl="0" algn="l">
              <a:lnSpc>
                <a:spcPct val="200000"/>
              </a:lnSpc>
              <a:spcBef>
                <a:spcPts val="0"/>
              </a:spcBef>
              <a:spcAft>
                <a:spcPts val="0"/>
              </a:spcAft>
              <a:buClr>
                <a:schemeClr val="dk1"/>
              </a:buClr>
              <a:buSzPts val="2000"/>
              <a:buChar char="●"/>
            </a:pPr>
            <a:r>
              <a:rPr lang="en" sz="2000">
                <a:solidFill>
                  <a:schemeClr val="dk1"/>
                </a:solidFill>
              </a:rPr>
              <a:t>Independent Error Dynamics</a:t>
            </a:r>
            <a:endParaRPr sz="2000">
              <a:solidFill>
                <a:schemeClr val="dk1"/>
              </a:solidFill>
            </a:endParaRPr>
          </a:p>
          <a:p>
            <a:pPr indent="0" lvl="0" marL="0" rtl="0" algn="l">
              <a:lnSpc>
                <a:spcPct val="200000"/>
              </a:lnSpc>
              <a:spcBef>
                <a:spcPts val="0"/>
              </a:spcBef>
              <a:spcAft>
                <a:spcPts val="0"/>
              </a:spcAft>
              <a:buNone/>
            </a:pPr>
            <a:r>
              <a:rPr lang="en" sz="2000">
                <a:solidFill>
                  <a:schemeClr val="dk1"/>
                </a:solidFill>
              </a:rPr>
              <a:t>Overall, it's better !!</a:t>
            </a:r>
            <a:endParaRPr sz="2000">
              <a:solidFill>
                <a:schemeClr val="dk1"/>
              </a:solidFill>
            </a:endParaRPr>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p:cNvPicPr preferRelativeResize="0"/>
          <p:nvPr/>
        </p:nvPicPr>
        <p:blipFill>
          <a:blip r:embed="rId3">
            <a:alphaModFix/>
          </a:blip>
          <a:stretch>
            <a:fillRect/>
          </a:stretch>
        </p:blipFill>
        <p:spPr>
          <a:xfrm>
            <a:off x="3394975" y="2841628"/>
            <a:ext cx="2642000" cy="2092923"/>
          </a:xfrm>
          <a:prstGeom prst="rect">
            <a:avLst/>
          </a:prstGeom>
          <a:noFill/>
          <a:ln>
            <a:noFill/>
          </a:ln>
        </p:spPr>
      </p:pic>
      <p:sp>
        <p:nvSpPr>
          <p:cNvPr id="78" name="Google Shape;78;p16"/>
          <p:cNvSpPr txBox="1"/>
          <p:nvPr/>
        </p:nvSpPr>
        <p:spPr>
          <a:xfrm>
            <a:off x="164275" y="36975"/>
            <a:ext cx="824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endParaRPr>
          </a:p>
        </p:txBody>
      </p:sp>
      <p:sp>
        <p:nvSpPr>
          <p:cNvPr id="79" name="Google Shape;79;p16"/>
          <p:cNvSpPr txBox="1"/>
          <p:nvPr/>
        </p:nvSpPr>
        <p:spPr>
          <a:xfrm>
            <a:off x="6215650" y="-1499950"/>
            <a:ext cx="8247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So, example about this symmetries, what will be preserved, independent from trajectory. Not the geometrical symmetry</a:t>
            </a:r>
            <a:endParaRPr sz="1800">
              <a:solidFill>
                <a:schemeClr val="dk2"/>
              </a:solidFill>
            </a:endParaRPr>
          </a:p>
        </p:txBody>
      </p:sp>
      <p:pic>
        <p:nvPicPr>
          <p:cNvPr id="80" name="Google Shape;80;p16"/>
          <p:cNvPicPr preferRelativeResize="0"/>
          <p:nvPr/>
        </p:nvPicPr>
        <p:blipFill>
          <a:blip r:embed="rId4">
            <a:alphaModFix/>
          </a:blip>
          <a:stretch>
            <a:fillRect/>
          </a:stretch>
        </p:blipFill>
        <p:spPr>
          <a:xfrm>
            <a:off x="3242105" y="953575"/>
            <a:ext cx="3065807" cy="2028598"/>
          </a:xfrm>
          <a:prstGeom prst="rect">
            <a:avLst/>
          </a:prstGeom>
          <a:noFill/>
          <a:ln>
            <a:noFill/>
          </a:ln>
        </p:spPr>
      </p:pic>
      <p:sp>
        <p:nvSpPr>
          <p:cNvPr id="81" name="Google Shape;81;p16"/>
          <p:cNvSpPr txBox="1"/>
          <p:nvPr/>
        </p:nvSpPr>
        <p:spPr>
          <a:xfrm>
            <a:off x="1424525" y="2538592"/>
            <a:ext cx="288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rgbClr val="93C47D"/>
                </a:highlight>
              </a:rPr>
              <a:t>Vector Space</a:t>
            </a:r>
            <a:endParaRPr sz="1800">
              <a:solidFill>
                <a:schemeClr val="dk1"/>
              </a:solidFill>
              <a:highlight>
                <a:srgbClr val="93C47D"/>
              </a:highlight>
            </a:endParaRPr>
          </a:p>
        </p:txBody>
      </p:sp>
      <p:sp>
        <p:nvSpPr>
          <p:cNvPr id="82" name="Google Shape;82;p16"/>
          <p:cNvSpPr txBox="1"/>
          <p:nvPr/>
        </p:nvSpPr>
        <p:spPr>
          <a:xfrm>
            <a:off x="6307912" y="2412069"/>
            <a:ext cx="2613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highlight>
                  <a:srgbClr val="EA9999"/>
                </a:highlight>
              </a:rPr>
              <a:t>Weird Space</a:t>
            </a:r>
            <a:endParaRPr sz="1800">
              <a:highlight>
                <a:srgbClr val="EA9999"/>
              </a:highlight>
            </a:endParaRPr>
          </a:p>
        </p:txBody>
      </p:sp>
      <p:sp>
        <p:nvSpPr>
          <p:cNvPr id="83" name="Google Shape;83;p16"/>
          <p:cNvSpPr/>
          <p:nvPr/>
        </p:nvSpPr>
        <p:spPr>
          <a:xfrm>
            <a:off x="2361005" y="1870238"/>
            <a:ext cx="1165320" cy="769800"/>
          </a:xfrm>
          <a:custGeom>
            <a:rect b="b" l="l" r="r" t="t"/>
            <a:pathLst>
              <a:path extrusionOk="0" h="32908" w="82559">
                <a:moveTo>
                  <a:pt x="0" y="32908"/>
                </a:moveTo>
                <a:cubicBezTo>
                  <a:pt x="4582" y="27686"/>
                  <a:pt x="14583" y="6254"/>
                  <a:pt x="27491" y="1574"/>
                </a:cubicBezTo>
                <a:cubicBezTo>
                  <a:pt x="40399" y="-3106"/>
                  <a:pt x="68580" y="4186"/>
                  <a:pt x="77448" y="4826"/>
                </a:cubicBezTo>
                <a:cubicBezTo>
                  <a:pt x="86316" y="5467"/>
                  <a:pt x="80157" y="5319"/>
                  <a:pt x="80699" y="5417"/>
                </a:cubicBezTo>
              </a:path>
            </a:pathLst>
          </a:custGeom>
          <a:noFill/>
          <a:ln cap="flat" cmpd="sng" w="28575">
            <a:solidFill>
              <a:srgbClr val="00FF00"/>
            </a:solidFill>
            <a:prstDash val="solid"/>
            <a:round/>
            <a:headEnd len="med" w="med" type="none"/>
            <a:tailEnd len="med" w="med" type="stealth"/>
          </a:ln>
        </p:spPr>
      </p:sp>
      <p:sp>
        <p:nvSpPr>
          <p:cNvPr id="84" name="Google Shape;84;p16"/>
          <p:cNvSpPr/>
          <p:nvPr/>
        </p:nvSpPr>
        <p:spPr>
          <a:xfrm>
            <a:off x="5811535" y="1789304"/>
            <a:ext cx="991383" cy="673765"/>
          </a:xfrm>
          <a:custGeom>
            <a:rect b="b" l="l" r="r" t="t"/>
            <a:pathLst>
              <a:path extrusionOk="0" h="29480" w="60598">
                <a:moveTo>
                  <a:pt x="60598" y="29481"/>
                </a:moveTo>
                <a:cubicBezTo>
                  <a:pt x="57544" y="25047"/>
                  <a:pt x="52371" y="7704"/>
                  <a:pt x="42271" y="2876"/>
                </a:cubicBezTo>
                <a:cubicBezTo>
                  <a:pt x="32171" y="-1952"/>
                  <a:pt x="7045" y="906"/>
                  <a:pt x="0" y="512"/>
                </a:cubicBezTo>
              </a:path>
            </a:pathLst>
          </a:custGeom>
          <a:noFill/>
          <a:ln cap="flat" cmpd="sng" w="28575">
            <a:solidFill>
              <a:srgbClr val="FF00FF"/>
            </a:solidFill>
            <a:prstDash val="solid"/>
            <a:round/>
            <a:headEnd len="med" w="med" type="none"/>
            <a:tailEnd len="med" w="med" type="stealth"/>
          </a:ln>
        </p:spPr>
      </p:sp>
      <p:sp>
        <p:nvSpPr>
          <p:cNvPr id="85" name="Google Shape;85;p16"/>
          <p:cNvSpPr txBox="1"/>
          <p:nvPr/>
        </p:nvSpPr>
        <p:spPr>
          <a:xfrm>
            <a:off x="0" y="0"/>
            <a:ext cx="67008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a:p>
        </p:txBody>
      </p:sp>
      <p:sp>
        <p:nvSpPr>
          <p:cNvPr id="86" name="Google Shape;86;p16"/>
          <p:cNvSpPr txBox="1"/>
          <p:nvPr>
            <p:ph type="title"/>
          </p:nvPr>
        </p:nvSpPr>
        <p:spPr>
          <a:xfrm>
            <a:off x="253050" y="227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Lie group and P</a:t>
            </a:r>
            <a:r>
              <a:rPr lang="en"/>
              <a:t>reserve geometric symmetries properties </a:t>
            </a:r>
            <a:endParaRPr/>
          </a:p>
        </p:txBody>
      </p:sp>
      <p:pic>
        <p:nvPicPr>
          <p:cNvPr id="87" name="Google Shape;87;p16"/>
          <p:cNvPicPr preferRelativeResize="0"/>
          <p:nvPr/>
        </p:nvPicPr>
        <p:blipFill>
          <a:blip r:embed="rId5">
            <a:alphaModFix/>
          </a:blip>
          <a:stretch>
            <a:fillRect/>
          </a:stretch>
        </p:blipFill>
        <p:spPr>
          <a:xfrm>
            <a:off x="253050" y="1496713"/>
            <a:ext cx="1849335" cy="572700"/>
          </a:xfrm>
          <a:prstGeom prst="rect">
            <a:avLst/>
          </a:prstGeom>
          <a:noFill/>
          <a:ln>
            <a:noFill/>
          </a:ln>
        </p:spPr>
      </p:pic>
      <p:pic>
        <p:nvPicPr>
          <p:cNvPr id="88" name="Google Shape;88;p16"/>
          <p:cNvPicPr preferRelativeResize="0"/>
          <p:nvPr/>
        </p:nvPicPr>
        <p:blipFill>
          <a:blip r:embed="rId6">
            <a:alphaModFix/>
          </a:blip>
          <a:stretch>
            <a:fillRect/>
          </a:stretch>
        </p:blipFill>
        <p:spPr>
          <a:xfrm>
            <a:off x="6924325" y="1409395"/>
            <a:ext cx="1849325" cy="747366"/>
          </a:xfrm>
          <a:prstGeom prst="rect">
            <a:avLst/>
          </a:prstGeom>
          <a:noFill/>
          <a:ln>
            <a:noFill/>
          </a:ln>
        </p:spPr>
      </p:pic>
      <p:pic>
        <p:nvPicPr>
          <p:cNvPr id="89" name="Google Shape;89;p16"/>
          <p:cNvPicPr preferRelativeResize="0"/>
          <p:nvPr/>
        </p:nvPicPr>
        <p:blipFill>
          <a:blip r:embed="rId7">
            <a:alphaModFix/>
          </a:blip>
          <a:stretch>
            <a:fillRect/>
          </a:stretch>
        </p:blipFill>
        <p:spPr>
          <a:xfrm>
            <a:off x="5957074" y="4027200"/>
            <a:ext cx="3123844" cy="504000"/>
          </a:xfrm>
          <a:prstGeom prst="rect">
            <a:avLst/>
          </a:prstGeom>
          <a:noFill/>
          <a:ln>
            <a:noFill/>
          </a:ln>
        </p:spPr>
      </p:pic>
      <p:sp>
        <p:nvSpPr>
          <p:cNvPr id="90" name="Google Shape;90;p16"/>
          <p:cNvSpPr txBox="1"/>
          <p:nvPr/>
        </p:nvSpPr>
        <p:spPr>
          <a:xfrm>
            <a:off x="6160400" y="3704175"/>
            <a:ext cx="464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Invariant under Rotation</a:t>
            </a:r>
            <a:endParaRPr sz="1800">
              <a:solidFill>
                <a:schemeClr val="dk2"/>
              </a:solidFill>
            </a:endParaRPr>
          </a:p>
        </p:txBody>
      </p:sp>
      <p:sp>
        <p:nvSpPr>
          <p:cNvPr id="91" name="Google Shape;91;p16"/>
          <p:cNvSpPr/>
          <p:nvPr/>
        </p:nvSpPr>
        <p:spPr>
          <a:xfrm>
            <a:off x="2415725" y="3206063"/>
            <a:ext cx="2281317" cy="1364037"/>
          </a:xfrm>
          <a:custGeom>
            <a:rect b="b" l="l" r="r" t="t"/>
            <a:pathLst>
              <a:path extrusionOk="0" h="60156" w="93134">
                <a:moveTo>
                  <a:pt x="0" y="0"/>
                </a:moveTo>
                <a:cubicBezTo>
                  <a:pt x="5057" y="7761"/>
                  <a:pt x="17404" y="36650"/>
                  <a:pt x="30339" y="46567"/>
                </a:cubicBezTo>
                <a:cubicBezTo>
                  <a:pt x="43274" y="56484"/>
                  <a:pt x="67145" y="62050"/>
                  <a:pt x="77611" y="59502"/>
                </a:cubicBezTo>
                <a:cubicBezTo>
                  <a:pt x="88077" y="56954"/>
                  <a:pt x="90547" y="35984"/>
                  <a:pt x="93134" y="31280"/>
                </a:cubicBezTo>
              </a:path>
            </a:pathLst>
          </a:custGeom>
          <a:noFill/>
          <a:ln cap="flat" cmpd="sng" w="28575">
            <a:solidFill>
              <a:srgbClr val="00FF00"/>
            </a:solidFill>
            <a:prstDash val="solid"/>
            <a:round/>
            <a:headEnd len="med" w="med" type="none"/>
            <a:tailEnd len="med" w="med" type="stealth"/>
          </a:ln>
        </p:spPr>
      </p:sp>
      <p:pic>
        <p:nvPicPr>
          <p:cNvPr id="92" name="Google Shape;92;p16"/>
          <p:cNvPicPr preferRelativeResize="0"/>
          <p:nvPr/>
        </p:nvPicPr>
        <p:blipFill>
          <a:blip r:embed="rId8">
            <a:alphaModFix/>
          </a:blip>
          <a:stretch>
            <a:fillRect/>
          </a:stretch>
        </p:blipFill>
        <p:spPr>
          <a:xfrm>
            <a:off x="5889675" y="3000298"/>
            <a:ext cx="325975" cy="1165588"/>
          </a:xfrm>
          <a:prstGeom prst="rect">
            <a:avLst/>
          </a:prstGeom>
          <a:noFill/>
          <a:ln>
            <a:noFill/>
          </a:ln>
        </p:spPr>
      </p:pic>
      <p:sp>
        <p:nvSpPr>
          <p:cNvPr id="93" name="Google Shape;93;p16"/>
          <p:cNvSpPr/>
          <p:nvPr/>
        </p:nvSpPr>
        <p:spPr>
          <a:xfrm rot="-839554">
            <a:off x="4127424" y="2378340"/>
            <a:ext cx="2195810" cy="600650"/>
          </a:xfrm>
          <a:custGeom>
            <a:rect b="b" l="l" r="r" t="t"/>
            <a:pathLst>
              <a:path extrusionOk="0" h="28417" w="92017">
                <a:moveTo>
                  <a:pt x="92018" y="19951"/>
                </a:moveTo>
                <a:cubicBezTo>
                  <a:pt x="83473" y="16698"/>
                  <a:pt x="55760" y="2351"/>
                  <a:pt x="40747" y="430"/>
                </a:cubicBezTo>
                <a:cubicBezTo>
                  <a:pt x="25734" y="-1491"/>
                  <a:pt x="7743" y="3763"/>
                  <a:pt x="1942" y="8427"/>
                </a:cubicBezTo>
                <a:cubicBezTo>
                  <a:pt x="-3859" y="13092"/>
                  <a:pt x="5274" y="25085"/>
                  <a:pt x="5940" y="28417"/>
                </a:cubicBezTo>
              </a:path>
            </a:pathLst>
          </a:custGeom>
          <a:noFill/>
          <a:ln cap="flat" cmpd="sng" w="28575">
            <a:solidFill>
              <a:srgbClr val="FF00FF"/>
            </a:solidFill>
            <a:prstDash val="solid"/>
            <a:round/>
            <a:headEnd len="med" w="med" type="none"/>
            <a:tailEnd len="med" w="med" type="stealth"/>
          </a:ln>
        </p:spPr>
      </p:sp>
      <p:sp>
        <p:nvSpPr>
          <p:cNvPr id="94" name="Google Shape;9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253050" y="227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 Error </a:t>
            </a:r>
            <a:r>
              <a:rPr lang="en"/>
              <a:t>Independence</a:t>
            </a:r>
            <a:r>
              <a:rPr lang="en"/>
              <a:t>  </a:t>
            </a:r>
            <a:endParaRPr/>
          </a:p>
        </p:txBody>
      </p:sp>
      <p:cxnSp>
        <p:nvCxnSpPr>
          <p:cNvPr id="100" name="Google Shape;100;p17"/>
          <p:cNvCxnSpPr/>
          <p:nvPr/>
        </p:nvCxnSpPr>
        <p:spPr>
          <a:xfrm>
            <a:off x="4553400" y="758650"/>
            <a:ext cx="12900" cy="2817900"/>
          </a:xfrm>
          <a:prstGeom prst="straightConnector1">
            <a:avLst/>
          </a:prstGeom>
          <a:noFill/>
          <a:ln cap="flat" cmpd="sng" w="28575">
            <a:solidFill>
              <a:schemeClr val="dk2"/>
            </a:solidFill>
            <a:prstDash val="solid"/>
            <a:round/>
            <a:headEnd len="med" w="med" type="none"/>
            <a:tailEnd len="med" w="med" type="none"/>
          </a:ln>
        </p:spPr>
      </p:cxnSp>
      <p:sp>
        <p:nvSpPr>
          <p:cNvPr id="101" name="Google Shape;101;p17"/>
          <p:cNvSpPr txBox="1"/>
          <p:nvPr/>
        </p:nvSpPr>
        <p:spPr>
          <a:xfrm>
            <a:off x="1473000" y="743188"/>
            <a:ext cx="331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rgbClr val="93C47D"/>
                </a:highlight>
              </a:rPr>
              <a:t>Vector Space</a:t>
            </a:r>
            <a:endParaRPr sz="1800">
              <a:solidFill>
                <a:schemeClr val="dk1"/>
              </a:solidFill>
              <a:highlight>
                <a:srgbClr val="93C47D"/>
              </a:highlight>
            </a:endParaRPr>
          </a:p>
        </p:txBody>
      </p:sp>
      <p:sp>
        <p:nvSpPr>
          <p:cNvPr id="102" name="Google Shape;102;p17"/>
          <p:cNvSpPr txBox="1"/>
          <p:nvPr/>
        </p:nvSpPr>
        <p:spPr>
          <a:xfrm>
            <a:off x="5380775" y="7586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rgbClr val="EA9999"/>
                </a:highlight>
              </a:rPr>
              <a:t>Lie </a:t>
            </a:r>
            <a:r>
              <a:rPr lang="en" sz="1800">
                <a:solidFill>
                  <a:schemeClr val="dk1"/>
                </a:solidFill>
                <a:highlight>
                  <a:srgbClr val="EA9999"/>
                </a:highlight>
              </a:rPr>
              <a:t>Weird </a:t>
            </a:r>
            <a:r>
              <a:rPr lang="en" sz="1800">
                <a:solidFill>
                  <a:schemeClr val="dk1"/>
                </a:solidFill>
                <a:highlight>
                  <a:srgbClr val="EA9999"/>
                </a:highlight>
              </a:rPr>
              <a:t>Space</a:t>
            </a:r>
            <a:endParaRPr sz="1800">
              <a:solidFill>
                <a:schemeClr val="dk1"/>
              </a:solidFill>
              <a:highlight>
                <a:srgbClr val="EA9999"/>
              </a:highlight>
            </a:endParaRPr>
          </a:p>
        </p:txBody>
      </p:sp>
      <p:sp>
        <p:nvSpPr>
          <p:cNvPr id="103" name="Google Shape;103;p17"/>
          <p:cNvSpPr/>
          <p:nvPr/>
        </p:nvSpPr>
        <p:spPr>
          <a:xfrm>
            <a:off x="4336725" y="377763"/>
            <a:ext cx="752100" cy="309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7"/>
          <p:cNvSpPr txBox="1"/>
          <p:nvPr/>
        </p:nvSpPr>
        <p:spPr>
          <a:xfrm>
            <a:off x="5302100" y="184875"/>
            <a:ext cx="60885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rPr>
              <a:t>Affine Group Theory</a:t>
            </a:r>
            <a:endParaRPr sz="2500">
              <a:solidFill>
                <a:schemeClr val="dk1"/>
              </a:solidFill>
            </a:endParaRPr>
          </a:p>
        </p:txBody>
      </p:sp>
      <p:pic>
        <p:nvPicPr>
          <p:cNvPr id="105" name="Google Shape;105;p17"/>
          <p:cNvPicPr preferRelativeResize="0"/>
          <p:nvPr/>
        </p:nvPicPr>
        <p:blipFill>
          <a:blip r:embed="rId3">
            <a:alphaModFix/>
          </a:blip>
          <a:stretch>
            <a:fillRect/>
          </a:stretch>
        </p:blipFill>
        <p:spPr>
          <a:xfrm>
            <a:off x="4675100" y="1154563"/>
            <a:ext cx="1354311" cy="615600"/>
          </a:xfrm>
          <a:prstGeom prst="rect">
            <a:avLst/>
          </a:prstGeom>
          <a:noFill/>
          <a:ln>
            <a:noFill/>
          </a:ln>
        </p:spPr>
      </p:pic>
      <p:sp>
        <p:nvSpPr>
          <p:cNvPr id="106" name="Google Shape;106;p17"/>
          <p:cNvSpPr txBox="1"/>
          <p:nvPr/>
        </p:nvSpPr>
        <p:spPr>
          <a:xfrm>
            <a:off x="6239700" y="1191613"/>
            <a:ext cx="366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Kinematic/Dynamic System</a:t>
            </a:r>
            <a:endParaRPr sz="1800">
              <a:solidFill>
                <a:schemeClr val="dk1"/>
              </a:solidFill>
            </a:endParaRPr>
          </a:p>
        </p:txBody>
      </p:sp>
      <p:pic>
        <p:nvPicPr>
          <p:cNvPr id="107" name="Google Shape;107;p17"/>
          <p:cNvPicPr preferRelativeResize="0"/>
          <p:nvPr/>
        </p:nvPicPr>
        <p:blipFill>
          <a:blip r:embed="rId4">
            <a:alphaModFix/>
          </a:blip>
          <a:stretch>
            <a:fillRect/>
          </a:stretch>
        </p:blipFill>
        <p:spPr>
          <a:xfrm>
            <a:off x="4675100" y="1843216"/>
            <a:ext cx="4157192" cy="615600"/>
          </a:xfrm>
          <a:prstGeom prst="rect">
            <a:avLst/>
          </a:prstGeom>
          <a:noFill/>
          <a:ln>
            <a:noFill/>
          </a:ln>
        </p:spPr>
      </p:pic>
      <p:sp>
        <p:nvSpPr>
          <p:cNvPr id="108" name="Google Shape;108;p17"/>
          <p:cNvSpPr/>
          <p:nvPr/>
        </p:nvSpPr>
        <p:spPr>
          <a:xfrm rot="1989671">
            <a:off x="5813679" y="1712082"/>
            <a:ext cx="766185" cy="110335"/>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FF00"/>
              </a:solidFill>
              <a:highlight>
                <a:srgbClr val="00FF00"/>
              </a:highlight>
            </a:endParaRPr>
          </a:p>
        </p:txBody>
      </p:sp>
      <p:pic>
        <p:nvPicPr>
          <p:cNvPr id="109" name="Google Shape;109;p17"/>
          <p:cNvPicPr preferRelativeResize="0"/>
          <p:nvPr/>
        </p:nvPicPr>
        <p:blipFill>
          <a:blip r:embed="rId5">
            <a:alphaModFix/>
          </a:blip>
          <a:stretch>
            <a:fillRect/>
          </a:stretch>
        </p:blipFill>
        <p:spPr>
          <a:xfrm>
            <a:off x="1152538" y="3218675"/>
            <a:ext cx="1677512" cy="615600"/>
          </a:xfrm>
          <a:prstGeom prst="rect">
            <a:avLst/>
          </a:prstGeom>
          <a:noFill/>
          <a:ln>
            <a:noFill/>
          </a:ln>
        </p:spPr>
      </p:pic>
      <p:pic>
        <p:nvPicPr>
          <p:cNvPr id="110" name="Google Shape;110;p17"/>
          <p:cNvPicPr preferRelativeResize="0"/>
          <p:nvPr/>
        </p:nvPicPr>
        <p:blipFill>
          <a:blip r:embed="rId6">
            <a:alphaModFix/>
          </a:blip>
          <a:stretch>
            <a:fillRect/>
          </a:stretch>
        </p:blipFill>
        <p:spPr>
          <a:xfrm>
            <a:off x="5845930" y="3708312"/>
            <a:ext cx="3224745" cy="615600"/>
          </a:xfrm>
          <a:prstGeom prst="rect">
            <a:avLst/>
          </a:prstGeom>
          <a:noFill/>
          <a:ln>
            <a:noFill/>
          </a:ln>
        </p:spPr>
      </p:pic>
      <p:sp>
        <p:nvSpPr>
          <p:cNvPr id="111" name="Google Shape;111;p17"/>
          <p:cNvSpPr/>
          <p:nvPr/>
        </p:nvSpPr>
        <p:spPr>
          <a:xfrm>
            <a:off x="6761675" y="2343821"/>
            <a:ext cx="238200" cy="378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2" name="Google Shape;112;p17"/>
          <p:cNvPicPr preferRelativeResize="0"/>
          <p:nvPr/>
        </p:nvPicPr>
        <p:blipFill>
          <a:blip r:embed="rId7">
            <a:alphaModFix/>
          </a:blip>
          <a:stretch>
            <a:fillRect/>
          </a:stretch>
        </p:blipFill>
        <p:spPr>
          <a:xfrm>
            <a:off x="3002900" y="3576525"/>
            <a:ext cx="2745876" cy="1620700"/>
          </a:xfrm>
          <a:prstGeom prst="rect">
            <a:avLst/>
          </a:prstGeom>
          <a:noFill/>
          <a:ln>
            <a:noFill/>
          </a:ln>
        </p:spPr>
      </p:pic>
      <p:sp>
        <p:nvSpPr>
          <p:cNvPr id="113" name="Google Shape;113;p17"/>
          <p:cNvSpPr/>
          <p:nvPr/>
        </p:nvSpPr>
        <p:spPr>
          <a:xfrm>
            <a:off x="4984538" y="4265175"/>
            <a:ext cx="2424467" cy="615628"/>
          </a:xfrm>
          <a:custGeom>
            <a:rect b="b" l="l" r="r" t="t"/>
            <a:pathLst>
              <a:path extrusionOk="0" h="56753" w="93663">
                <a:moveTo>
                  <a:pt x="93663" y="0"/>
                </a:moveTo>
                <a:cubicBezTo>
                  <a:pt x="90223" y="6218"/>
                  <a:pt x="88636" y="27848"/>
                  <a:pt x="73025" y="37307"/>
                </a:cubicBezTo>
                <a:cubicBezTo>
                  <a:pt x="57415" y="46766"/>
                  <a:pt x="12171" y="53512"/>
                  <a:pt x="0" y="56753"/>
                </a:cubicBezTo>
              </a:path>
            </a:pathLst>
          </a:custGeom>
          <a:noFill/>
          <a:ln cap="flat" cmpd="sng" w="19050">
            <a:solidFill>
              <a:schemeClr val="dk2"/>
            </a:solidFill>
            <a:prstDash val="solid"/>
            <a:round/>
            <a:headEnd len="med" w="med" type="none"/>
            <a:tailEnd len="med" w="med" type="stealth"/>
          </a:ln>
        </p:spPr>
      </p:sp>
      <p:sp>
        <p:nvSpPr>
          <p:cNvPr id="114" name="Google Shape;114;p17"/>
          <p:cNvSpPr/>
          <p:nvPr/>
        </p:nvSpPr>
        <p:spPr>
          <a:xfrm>
            <a:off x="2742576" y="3490326"/>
            <a:ext cx="2131407" cy="671513"/>
          </a:xfrm>
          <a:custGeom>
            <a:rect b="b" l="l" r="r" t="t"/>
            <a:pathLst>
              <a:path extrusionOk="0" h="31750" w="64691">
                <a:moveTo>
                  <a:pt x="64691" y="31750"/>
                </a:moveTo>
                <a:cubicBezTo>
                  <a:pt x="59796" y="27384"/>
                  <a:pt x="46104" y="10848"/>
                  <a:pt x="35322" y="5556"/>
                </a:cubicBezTo>
                <a:cubicBezTo>
                  <a:pt x="24540" y="264"/>
                  <a:pt x="5887" y="926"/>
                  <a:pt x="0" y="0"/>
                </a:cubicBezTo>
              </a:path>
            </a:pathLst>
          </a:custGeom>
          <a:noFill/>
          <a:ln cap="flat" cmpd="sng" w="19050">
            <a:solidFill>
              <a:schemeClr val="dk2"/>
            </a:solidFill>
            <a:prstDash val="solid"/>
            <a:round/>
            <a:headEnd len="med" w="med" type="none"/>
            <a:tailEnd len="med" w="med" type="stealth"/>
          </a:ln>
        </p:spPr>
      </p:sp>
      <p:sp>
        <p:nvSpPr>
          <p:cNvPr id="115" name="Google Shape;115;p17"/>
          <p:cNvSpPr txBox="1"/>
          <p:nvPr/>
        </p:nvSpPr>
        <p:spPr>
          <a:xfrm>
            <a:off x="461050" y="1279300"/>
            <a:ext cx="3274200" cy="1518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Char char="●"/>
            </a:pPr>
            <a:r>
              <a:rPr lang="en" sz="1800">
                <a:solidFill>
                  <a:schemeClr val="dk1"/>
                </a:solidFill>
              </a:rPr>
              <a:t>Line</a:t>
            </a:r>
            <a:r>
              <a:rPr lang="en" sz="1800">
                <a:solidFill>
                  <a:schemeClr val="dk1"/>
                </a:solidFill>
              </a:rPr>
              <a:t>a</a:t>
            </a:r>
            <a:r>
              <a:rPr lang="en" sz="1800">
                <a:solidFill>
                  <a:schemeClr val="dk1"/>
                </a:solidFill>
              </a:rPr>
              <a:t>r propagation</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Independent</a:t>
            </a:r>
            <a:r>
              <a:rPr lang="en" sz="1800">
                <a:solidFill>
                  <a:schemeClr val="dk1"/>
                </a:solidFill>
              </a:rPr>
              <a:t> KF State </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Constant Jacobian </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Global Convergence  </a:t>
            </a:r>
            <a:endParaRPr sz="1800">
              <a:solidFill>
                <a:schemeClr val="dk1"/>
              </a:solidFill>
            </a:endParaRPr>
          </a:p>
        </p:txBody>
      </p:sp>
      <p:pic>
        <p:nvPicPr>
          <p:cNvPr id="116" name="Google Shape;116;p17"/>
          <p:cNvPicPr preferRelativeResize="0"/>
          <p:nvPr/>
        </p:nvPicPr>
        <p:blipFill>
          <a:blip r:embed="rId8">
            <a:alphaModFix/>
          </a:blip>
          <a:stretch>
            <a:fillRect/>
          </a:stretch>
        </p:blipFill>
        <p:spPr>
          <a:xfrm>
            <a:off x="3258550" y="1642975"/>
            <a:ext cx="284370" cy="572700"/>
          </a:xfrm>
          <a:prstGeom prst="rect">
            <a:avLst/>
          </a:prstGeom>
          <a:noFill/>
          <a:ln>
            <a:noFill/>
          </a:ln>
        </p:spPr>
      </p:pic>
      <p:sp>
        <p:nvSpPr>
          <p:cNvPr id="117" name="Google Shape;117;p17"/>
          <p:cNvSpPr txBox="1"/>
          <p:nvPr/>
        </p:nvSpPr>
        <p:spPr>
          <a:xfrm>
            <a:off x="231600" y="3769788"/>
            <a:ext cx="5368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Log-Linear Error Theory</a:t>
            </a:r>
            <a:endParaRPr sz="2000">
              <a:solidFill>
                <a:schemeClr val="dk1"/>
              </a:solidFill>
            </a:endParaRPr>
          </a:p>
        </p:txBody>
      </p:sp>
      <p:pic>
        <p:nvPicPr>
          <p:cNvPr id="118" name="Google Shape;118;p17"/>
          <p:cNvPicPr preferRelativeResize="0"/>
          <p:nvPr/>
        </p:nvPicPr>
        <p:blipFill>
          <a:blip r:embed="rId9">
            <a:alphaModFix/>
          </a:blip>
          <a:stretch>
            <a:fillRect/>
          </a:stretch>
        </p:blipFill>
        <p:spPr>
          <a:xfrm>
            <a:off x="4820987" y="2761937"/>
            <a:ext cx="4119585" cy="511500"/>
          </a:xfrm>
          <a:prstGeom prst="rect">
            <a:avLst/>
          </a:prstGeom>
          <a:noFill/>
          <a:ln>
            <a:noFill/>
          </a:ln>
        </p:spPr>
      </p:pic>
      <p:sp>
        <p:nvSpPr>
          <p:cNvPr id="119" name="Google Shape;119;p17"/>
          <p:cNvSpPr/>
          <p:nvPr/>
        </p:nvSpPr>
        <p:spPr>
          <a:xfrm>
            <a:off x="7170800" y="3301871"/>
            <a:ext cx="238200" cy="378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0" name="Google Shape;120;p17"/>
          <p:cNvPicPr preferRelativeResize="0"/>
          <p:nvPr/>
        </p:nvPicPr>
        <p:blipFill>
          <a:blip r:embed="rId10">
            <a:alphaModFix/>
          </a:blip>
          <a:stretch>
            <a:fillRect/>
          </a:stretch>
        </p:blipFill>
        <p:spPr>
          <a:xfrm>
            <a:off x="231600" y="-1710451"/>
            <a:ext cx="4368842" cy="1620700"/>
          </a:xfrm>
          <a:prstGeom prst="rect">
            <a:avLst/>
          </a:prstGeom>
          <a:noFill/>
          <a:ln>
            <a:noFill/>
          </a:ln>
        </p:spPr>
      </p:pic>
      <p:sp>
        <p:nvSpPr>
          <p:cNvPr id="121" name="Google Shape;121;p17"/>
          <p:cNvSpPr txBox="1"/>
          <p:nvPr/>
        </p:nvSpPr>
        <p:spPr>
          <a:xfrm>
            <a:off x="9858375" y="-532100"/>
            <a:ext cx="46812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2"/>
                </a:solidFill>
              </a:rPr>
              <a:t>So for the movement in 3D space, we only have the translation and rotation. If we can express the state in term of LIe group, we can convert the nonlinear function into linear error through LIe group. And these errors doesnt depend on the state it self</a:t>
            </a:r>
            <a:endParaRPr sz="1800">
              <a:solidFill>
                <a:schemeClr val="dk2"/>
              </a:solidFill>
            </a:endParaRPr>
          </a:p>
        </p:txBody>
      </p:sp>
      <p:sp>
        <p:nvSpPr>
          <p:cNvPr id="122" name="Google Shape;122;p17"/>
          <p:cNvSpPr txBox="1"/>
          <p:nvPr/>
        </p:nvSpPr>
        <p:spPr>
          <a:xfrm>
            <a:off x="-1561700" y="5341150"/>
            <a:ext cx="300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linear propagation of dynamic error, without higher order term</a:t>
            </a:r>
            <a:endParaRPr sz="1800">
              <a:solidFill>
                <a:schemeClr val="dk2"/>
              </a:solidFill>
            </a:endParaRPr>
          </a:p>
        </p:txBody>
      </p:sp>
      <p:sp>
        <p:nvSpPr>
          <p:cNvPr id="123" name="Google Shape;12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Formulation</a:t>
            </a:r>
            <a:endParaRPr/>
          </a:p>
        </p:txBody>
      </p:sp>
      <p:pic>
        <p:nvPicPr>
          <p:cNvPr id="129" name="Google Shape;129;p18"/>
          <p:cNvPicPr preferRelativeResize="0"/>
          <p:nvPr/>
        </p:nvPicPr>
        <p:blipFill>
          <a:blip r:embed="rId3">
            <a:alphaModFix/>
          </a:blip>
          <a:stretch>
            <a:fillRect/>
          </a:stretch>
        </p:blipFill>
        <p:spPr>
          <a:xfrm>
            <a:off x="1126775" y="2323575"/>
            <a:ext cx="2896899" cy="1367100"/>
          </a:xfrm>
          <a:prstGeom prst="rect">
            <a:avLst/>
          </a:prstGeom>
          <a:noFill/>
          <a:ln>
            <a:noFill/>
          </a:ln>
        </p:spPr>
      </p:pic>
      <p:cxnSp>
        <p:nvCxnSpPr>
          <p:cNvPr id="130" name="Google Shape;130;p18"/>
          <p:cNvCxnSpPr/>
          <p:nvPr/>
        </p:nvCxnSpPr>
        <p:spPr>
          <a:xfrm flipH="1" rot="10800000">
            <a:off x="825800" y="3532150"/>
            <a:ext cx="9000" cy="843600"/>
          </a:xfrm>
          <a:prstGeom prst="straightConnector1">
            <a:avLst/>
          </a:prstGeom>
          <a:noFill/>
          <a:ln cap="flat" cmpd="sng" w="9525">
            <a:solidFill>
              <a:schemeClr val="dk2"/>
            </a:solidFill>
            <a:prstDash val="solid"/>
            <a:round/>
            <a:headEnd len="med" w="med" type="none"/>
            <a:tailEnd len="med" w="med" type="triangle"/>
          </a:ln>
        </p:spPr>
      </p:cxnSp>
      <p:cxnSp>
        <p:nvCxnSpPr>
          <p:cNvPr id="131" name="Google Shape;131;p18"/>
          <p:cNvCxnSpPr/>
          <p:nvPr/>
        </p:nvCxnSpPr>
        <p:spPr>
          <a:xfrm flipH="1" rot="10800000">
            <a:off x="834875" y="4366750"/>
            <a:ext cx="771000" cy="9000"/>
          </a:xfrm>
          <a:prstGeom prst="straightConnector1">
            <a:avLst/>
          </a:prstGeom>
          <a:noFill/>
          <a:ln cap="flat" cmpd="sng" w="9525">
            <a:solidFill>
              <a:schemeClr val="dk2"/>
            </a:solidFill>
            <a:prstDash val="solid"/>
            <a:round/>
            <a:headEnd len="med" w="med" type="none"/>
            <a:tailEnd len="med" w="med" type="triangle"/>
          </a:ln>
        </p:spPr>
      </p:cxnSp>
      <p:cxnSp>
        <p:nvCxnSpPr>
          <p:cNvPr id="132" name="Google Shape;132;p18"/>
          <p:cNvCxnSpPr/>
          <p:nvPr/>
        </p:nvCxnSpPr>
        <p:spPr>
          <a:xfrm flipH="1">
            <a:off x="444875" y="4366750"/>
            <a:ext cx="390000" cy="426300"/>
          </a:xfrm>
          <a:prstGeom prst="straightConnector1">
            <a:avLst/>
          </a:prstGeom>
          <a:noFill/>
          <a:ln cap="flat" cmpd="sng" w="9525">
            <a:solidFill>
              <a:schemeClr val="dk2"/>
            </a:solidFill>
            <a:prstDash val="solid"/>
            <a:round/>
            <a:headEnd len="med" w="med" type="none"/>
            <a:tailEnd len="med" w="med" type="triangle"/>
          </a:ln>
        </p:spPr>
      </p:cxnSp>
      <p:sp>
        <p:nvSpPr>
          <p:cNvPr id="133" name="Google Shape;133;p18"/>
          <p:cNvSpPr/>
          <p:nvPr/>
        </p:nvSpPr>
        <p:spPr>
          <a:xfrm>
            <a:off x="433646" y="2188874"/>
            <a:ext cx="2079450" cy="1833100"/>
          </a:xfrm>
          <a:custGeom>
            <a:rect b="b" l="l" r="r" t="t"/>
            <a:pathLst>
              <a:path extrusionOk="0" h="73324" w="83178">
                <a:moveTo>
                  <a:pt x="83178" y="20347"/>
                </a:moveTo>
                <a:cubicBezTo>
                  <a:pt x="80275" y="17263"/>
                  <a:pt x="76767" y="4321"/>
                  <a:pt x="65760" y="1841"/>
                </a:cubicBezTo>
                <a:cubicBezTo>
                  <a:pt x="54753" y="-639"/>
                  <a:pt x="28084" y="-1304"/>
                  <a:pt x="17138" y="5469"/>
                </a:cubicBezTo>
                <a:cubicBezTo>
                  <a:pt x="6192" y="12242"/>
                  <a:pt x="748" y="31172"/>
                  <a:pt x="83" y="42481"/>
                </a:cubicBezTo>
                <a:cubicBezTo>
                  <a:pt x="-582" y="53790"/>
                  <a:pt x="10969" y="68184"/>
                  <a:pt x="13146" y="73324"/>
                </a:cubicBezTo>
              </a:path>
            </a:pathLst>
          </a:custGeom>
          <a:noFill/>
          <a:ln cap="flat" cmpd="sng" w="19050">
            <a:solidFill>
              <a:schemeClr val="dk2"/>
            </a:solidFill>
            <a:prstDash val="solid"/>
            <a:round/>
            <a:headEnd len="med" w="med" type="none"/>
            <a:tailEnd len="med" w="med" type="stealth"/>
          </a:ln>
        </p:spPr>
      </p:sp>
      <p:sp>
        <p:nvSpPr>
          <p:cNvPr id="134" name="Google Shape;134;p18"/>
          <p:cNvSpPr/>
          <p:nvPr/>
        </p:nvSpPr>
        <p:spPr>
          <a:xfrm>
            <a:off x="1315650" y="3250900"/>
            <a:ext cx="2163550" cy="1585975"/>
          </a:xfrm>
          <a:custGeom>
            <a:rect b="b" l="l" r="r" t="t"/>
            <a:pathLst>
              <a:path extrusionOk="0" h="63439" w="86542">
                <a:moveTo>
                  <a:pt x="79466" y="0"/>
                </a:moveTo>
                <a:cubicBezTo>
                  <a:pt x="80434" y="5201"/>
                  <a:pt x="89808" y="20683"/>
                  <a:pt x="85272" y="31206"/>
                </a:cubicBezTo>
                <a:cubicBezTo>
                  <a:pt x="80736" y="41729"/>
                  <a:pt x="66464" y="60718"/>
                  <a:pt x="52252" y="63137"/>
                </a:cubicBezTo>
                <a:cubicBezTo>
                  <a:pt x="38040" y="65556"/>
                  <a:pt x="8709" y="48623"/>
                  <a:pt x="0" y="45720"/>
                </a:cubicBezTo>
              </a:path>
            </a:pathLst>
          </a:custGeom>
          <a:noFill/>
          <a:ln cap="flat" cmpd="sng" w="19050">
            <a:solidFill>
              <a:schemeClr val="dk2"/>
            </a:solidFill>
            <a:prstDash val="solid"/>
            <a:round/>
            <a:headEnd len="med" w="med" type="none"/>
            <a:tailEnd len="med" w="med" type="stealth"/>
          </a:ln>
        </p:spPr>
      </p:sp>
      <p:pic>
        <p:nvPicPr>
          <p:cNvPr id="135" name="Google Shape;135;p18"/>
          <p:cNvPicPr preferRelativeResize="0"/>
          <p:nvPr/>
        </p:nvPicPr>
        <p:blipFill rotWithShape="1">
          <a:blip r:embed="rId4">
            <a:alphaModFix/>
          </a:blip>
          <a:srcRect b="19458" l="52650" r="6643" t="17770"/>
          <a:stretch/>
        </p:blipFill>
        <p:spPr>
          <a:xfrm>
            <a:off x="322175" y="1938613"/>
            <a:ext cx="512711" cy="426300"/>
          </a:xfrm>
          <a:prstGeom prst="rect">
            <a:avLst/>
          </a:prstGeom>
          <a:noFill/>
          <a:ln>
            <a:noFill/>
          </a:ln>
        </p:spPr>
      </p:pic>
      <p:pic>
        <p:nvPicPr>
          <p:cNvPr id="136" name="Google Shape;136;p18"/>
          <p:cNvPicPr preferRelativeResize="0"/>
          <p:nvPr/>
        </p:nvPicPr>
        <p:blipFill rotWithShape="1">
          <a:blip r:embed="rId4">
            <a:alphaModFix/>
          </a:blip>
          <a:srcRect b="18545" l="10865" r="55071" t="16472"/>
          <a:stretch/>
        </p:blipFill>
        <p:spPr>
          <a:xfrm>
            <a:off x="3074750" y="4560492"/>
            <a:ext cx="512700" cy="527375"/>
          </a:xfrm>
          <a:prstGeom prst="rect">
            <a:avLst/>
          </a:prstGeom>
          <a:noFill/>
          <a:ln>
            <a:noFill/>
          </a:ln>
        </p:spPr>
      </p:pic>
      <p:sp>
        <p:nvSpPr>
          <p:cNvPr id="137" name="Google Shape;137;p18"/>
          <p:cNvSpPr txBox="1"/>
          <p:nvPr/>
        </p:nvSpPr>
        <p:spPr>
          <a:xfrm>
            <a:off x="4640125" y="1292550"/>
            <a:ext cx="4086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Integrate IM</a:t>
            </a:r>
            <a:r>
              <a:rPr lang="en" sz="1800">
                <a:solidFill>
                  <a:schemeClr val="dk2"/>
                </a:solidFill>
              </a:rPr>
              <a:t>U</a:t>
            </a:r>
            <a:r>
              <a:rPr lang="en" sz="1800">
                <a:solidFill>
                  <a:schemeClr val="dk2"/>
                </a:solidFill>
              </a:rPr>
              <a:t> data -&gt; position</a:t>
            </a:r>
            <a:endParaRPr sz="1800">
              <a:solidFill>
                <a:schemeClr val="dk2"/>
              </a:solidFill>
            </a:endParaRPr>
          </a:p>
        </p:txBody>
      </p:sp>
      <p:sp>
        <p:nvSpPr>
          <p:cNvPr id="138" name="Google Shape;13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9"/>
          <p:cNvPicPr preferRelativeResize="0"/>
          <p:nvPr/>
        </p:nvPicPr>
        <p:blipFill>
          <a:blip r:embed="rId3">
            <a:alphaModFix/>
          </a:blip>
          <a:stretch>
            <a:fillRect/>
          </a:stretch>
        </p:blipFill>
        <p:spPr>
          <a:xfrm>
            <a:off x="8535425" y="2476974"/>
            <a:ext cx="344700" cy="305012"/>
          </a:xfrm>
          <a:prstGeom prst="rect">
            <a:avLst/>
          </a:prstGeom>
          <a:noFill/>
          <a:ln>
            <a:noFill/>
          </a:ln>
        </p:spPr>
      </p:pic>
      <p:pic>
        <p:nvPicPr>
          <p:cNvPr id="144" name="Google Shape;144;p19"/>
          <p:cNvPicPr preferRelativeResize="0"/>
          <p:nvPr/>
        </p:nvPicPr>
        <p:blipFill>
          <a:blip r:embed="rId4">
            <a:alphaModFix/>
          </a:blip>
          <a:stretch>
            <a:fillRect/>
          </a:stretch>
        </p:blipFill>
        <p:spPr>
          <a:xfrm>
            <a:off x="7072375" y="874863"/>
            <a:ext cx="1978143" cy="670900"/>
          </a:xfrm>
          <a:prstGeom prst="rect">
            <a:avLst/>
          </a:prstGeom>
          <a:noFill/>
          <a:ln>
            <a:noFill/>
          </a:ln>
        </p:spPr>
      </p:pic>
      <p:pic>
        <p:nvPicPr>
          <p:cNvPr id="145" name="Google Shape;145;p19"/>
          <p:cNvPicPr preferRelativeResize="0"/>
          <p:nvPr/>
        </p:nvPicPr>
        <p:blipFill>
          <a:blip r:embed="rId5">
            <a:alphaModFix/>
          </a:blip>
          <a:stretch>
            <a:fillRect/>
          </a:stretch>
        </p:blipFill>
        <p:spPr>
          <a:xfrm>
            <a:off x="819000" y="1674675"/>
            <a:ext cx="1719301" cy="802302"/>
          </a:xfrm>
          <a:prstGeom prst="rect">
            <a:avLst/>
          </a:prstGeom>
          <a:noFill/>
          <a:ln>
            <a:noFill/>
          </a:ln>
        </p:spPr>
      </p:pic>
      <p:sp>
        <p:nvSpPr>
          <p:cNvPr id="146" name="Google Shape;146;p19"/>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IMU Modelling - Propagation</a:t>
            </a:r>
            <a:endParaRPr/>
          </a:p>
          <a:p>
            <a:pPr indent="0" lvl="0" marL="0" rtl="0" algn="l">
              <a:spcBef>
                <a:spcPts val="0"/>
              </a:spcBef>
              <a:spcAft>
                <a:spcPts val="0"/>
              </a:spcAft>
              <a:buNone/>
            </a:pPr>
            <a:r>
              <a:t/>
            </a:r>
            <a:endParaRPr/>
          </a:p>
        </p:txBody>
      </p:sp>
      <p:pic>
        <p:nvPicPr>
          <p:cNvPr id="147" name="Google Shape;147;p19"/>
          <p:cNvPicPr preferRelativeResize="0"/>
          <p:nvPr/>
        </p:nvPicPr>
        <p:blipFill>
          <a:blip r:embed="rId6">
            <a:alphaModFix/>
          </a:blip>
          <a:stretch>
            <a:fillRect/>
          </a:stretch>
        </p:blipFill>
        <p:spPr>
          <a:xfrm>
            <a:off x="0" y="3033650"/>
            <a:ext cx="3792151" cy="2109851"/>
          </a:xfrm>
          <a:prstGeom prst="rect">
            <a:avLst/>
          </a:prstGeom>
          <a:noFill/>
          <a:ln>
            <a:noFill/>
          </a:ln>
        </p:spPr>
      </p:pic>
      <p:pic>
        <p:nvPicPr>
          <p:cNvPr id="148" name="Google Shape;148;p19"/>
          <p:cNvPicPr preferRelativeResize="0"/>
          <p:nvPr/>
        </p:nvPicPr>
        <p:blipFill>
          <a:blip r:embed="rId7">
            <a:alphaModFix/>
          </a:blip>
          <a:stretch>
            <a:fillRect/>
          </a:stretch>
        </p:blipFill>
        <p:spPr>
          <a:xfrm>
            <a:off x="2857800" y="2239188"/>
            <a:ext cx="4981726" cy="617825"/>
          </a:xfrm>
          <a:prstGeom prst="rect">
            <a:avLst/>
          </a:prstGeom>
          <a:noFill/>
          <a:ln>
            <a:noFill/>
          </a:ln>
        </p:spPr>
      </p:pic>
      <p:pic>
        <p:nvPicPr>
          <p:cNvPr id="149" name="Google Shape;149;p19"/>
          <p:cNvPicPr preferRelativeResize="0"/>
          <p:nvPr/>
        </p:nvPicPr>
        <p:blipFill>
          <a:blip r:embed="rId8">
            <a:alphaModFix/>
          </a:blip>
          <a:stretch>
            <a:fillRect/>
          </a:stretch>
        </p:blipFill>
        <p:spPr>
          <a:xfrm>
            <a:off x="1040250" y="982825"/>
            <a:ext cx="1817551" cy="480400"/>
          </a:xfrm>
          <a:prstGeom prst="rect">
            <a:avLst/>
          </a:prstGeom>
          <a:noFill/>
          <a:ln>
            <a:noFill/>
          </a:ln>
        </p:spPr>
      </p:pic>
      <p:pic>
        <p:nvPicPr>
          <p:cNvPr id="150" name="Google Shape;150;p19"/>
          <p:cNvPicPr preferRelativeResize="0"/>
          <p:nvPr/>
        </p:nvPicPr>
        <p:blipFill>
          <a:blip r:embed="rId9">
            <a:alphaModFix/>
          </a:blip>
          <a:stretch>
            <a:fillRect/>
          </a:stretch>
        </p:blipFill>
        <p:spPr>
          <a:xfrm>
            <a:off x="4014800" y="846562"/>
            <a:ext cx="1482400" cy="517075"/>
          </a:xfrm>
          <a:prstGeom prst="rect">
            <a:avLst/>
          </a:prstGeom>
          <a:noFill/>
          <a:ln>
            <a:noFill/>
          </a:ln>
        </p:spPr>
      </p:pic>
      <p:sp>
        <p:nvSpPr>
          <p:cNvPr id="151" name="Google Shape;151;p19"/>
          <p:cNvSpPr/>
          <p:nvPr/>
        </p:nvSpPr>
        <p:spPr>
          <a:xfrm>
            <a:off x="5288950" y="1318675"/>
            <a:ext cx="653167" cy="997908"/>
          </a:xfrm>
          <a:custGeom>
            <a:rect b="b" l="l" r="r" t="t"/>
            <a:pathLst>
              <a:path extrusionOk="0" h="29755" w="22860">
                <a:moveTo>
                  <a:pt x="22860" y="29755"/>
                </a:moveTo>
                <a:cubicBezTo>
                  <a:pt x="22134" y="27759"/>
                  <a:pt x="21046" y="21651"/>
                  <a:pt x="18506" y="17780"/>
                </a:cubicBezTo>
                <a:cubicBezTo>
                  <a:pt x="15966" y="13910"/>
                  <a:pt x="10704" y="9495"/>
                  <a:pt x="7620" y="6532"/>
                </a:cubicBezTo>
                <a:cubicBezTo>
                  <a:pt x="4536" y="3569"/>
                  <a:pt x="1270" y="1089"/>
                  <a:pt x="0" y="0"/>
                </a:cubicBezTo>
              </a:path>
            </a:pathLst>
          </a:custGeom>
          <a:noFill/>
          <a:ln cap="flat" cmpd="sng" w="28575">
            <a:solidFill>
              <a:schemeClr val="dk2"/>
            </a:solidFill>
            <a:prstDash val="solid"/>
            <a:round/>
            <a:headEnd len="med" w="med" type="none"/>
            <a:tailEnd len="med" w="med" type="stealth"/>
          </a:ln>
        </p:spPr>
      </p:sp>
      <p:sp>
        <p:nvSpPr>
          <p:cNvPr id="152" name="Google Shape;152;p19"/>
          <p:cNvSpPr/>
          <p:nvPr/>
        </p:nvSpPr>
        <p:spPr>
          <a:xfrm>
            <a:off x="2222800" y="719976"/>
            <a:ext cx="1868761" cy="262850"/>
          </a:xfrm>
          <a:custGeom>
            <a:rect b="b" l="l" r="r" t="t"/>
            <a:pathLst>
              <a:path extrusionOk="0" h="8557" w="75475">
                <a:moveTo>
                  <a:pt x="75475" y="4928"/>
                </a:moveTo>
                <a:cubicBezTo>
                  <a:pt x="70576" y="4202"/>
                  <a:pt x="56243" y="1239"/>
                  <a:pt x="46083" y="574"/>
                </a:cubicBezTo>
                <a:cubicBezTo>
                  <a:pt x="35923" y="-91"/>
                  <a:pt x="22196" y="-393"/>
                  <a:pt x="14515" y="937"/>
                </a:cubicBezTo>
                <a:cubicBezTo>
                  <a:pt x="6835" y="2268"/>
                  <a:pt x="2419" y="7287"/>
                  <a:pt x="0" y="8557"/>
                </a:cubicBezTo>
              </a:path>
            </a:pathLst>
          </a:custGeom>
          <a:noFill/>
          <a:ln cap="flat" cmpd="sng" w="28575">
            <a:solidFill>
              <a:schemeClr val="dk2"/>
            </a:solidFill>
            <a:prstDash val="solid"/>
            <a:round/>
            <a:headEnd len="med" w="med" type="none"/>
            <a:tailEnd len="med" w="med" type="stealth"/>
          </a:ln>
        </p:spPr>
      </p:sp>
      <p:sp>
        <p:nvSpPr>
          <p:cNvPr id="153" name="Google Shape;153;p19"/>
          <p:cNvSpPr/>
          <p:nvPr/>
        </p:nvSpPr>
        <p:spPr>
          <a:xfrm>
            <a:off x="5494225" y="231657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54" name="Google Shape;154;p19"/>
          <p:cNvSpPr/>
          <p:nvPr/>
        </p:nvSpPr>
        <p:spPr>
          <a:xfrm>
            <a:off x="501610" y="1162325"/>
            <a:ext cx="513000" cy="670900"/>
          </a:xfrm>
          <a:custGeom>
            <a:rect b="b" l="l" r="r" t="t"/>
            <a:pathLst>
              <a:path extrusionOk="0" h="26836" w="20520">
                <a:moveTo>
                  <a:pt x="20521" y="0"/>
                </a:moveTo>
                <a:cubicBezTo>
                  <a:pt x="17153" y="1325"/>
                  <a:pt x="2244" y="3478"/>
                  <a:pt x="311" y="7951"/>
                </a:cubicBezTo>
                <a:cubicBezTo>
                  <a:pt x="-1622" y="12424"/>
                  <a:pt x="7489" y="23689"/>
                  <a:pt x="8925" y="26836"/>
                </a:cubicBezTo>
              </a:path>
            </a:pathLst>
          </a:custGeom>
          <a:noFill/>
          <a:ln cap="flat" cmpd="sng" w="28575">
            <a:solidFill>
              <a:schemeClr val="dk2"/>
            </a:solidFill>
            <a:prstDash val="solid"/>
            <a:round/>
            <a:headEnd len="med" w="med" type="none"/>
            <a:tailEnd len="med" w="med" type="stealth"/>
          </a:ln>
        </p:spPr>
      </p:sp>
      <p:sp>
        <p:nvSpPr>
          <p:cNvPr id="155" name="Google Shape;155;p19"/>
          <p:cNvSpPr/>
          <p:nvPr/>
        </p:nvSpPr>
        <p:spPr>
          <a:xfrm>
            <a:off x="2787100" y="2040275"/>
            <a:ext cx="1482432" cy="262864"/>
          </a:xfrm>
          <a:custGeom>
            <a:rect b="b" l="l" r="r" t="t"/>
            <a:pathLst>
              <a:path extrusionOk="0" h="12259" w="49696">
                <a:moveTo>
                  <a:pt x="0" y="0"/>
                </a:moveTo>
                <a:cubicBezTo>
                  <a:pt x="4804" y="331"/>
                  <a:pt x="20540" y="-55"/>
                  <a:pt x="28823" y="1988"/>
                </a:cubicBezTo>
                <a:cubicBezTo>
                  <a:pt x="37106" y="4031"/>
                  <a:pt x="46217" y="10547"/>
                  <a:pt x="49696" y="12259"/>
                </a:cubicBezTo>
              </a:path>
            </a:pathLst>
          </a:custGeom>
          <a:noFill/>
          <a:ln cap="flat" cmpd="sng" w="28575">
            <a:solidFill>
              <a:schemeClr val="dk2"/>
            </a:solidFill>
            <a:prstDash val="solid"/>
            <a:round/>
            <a:headEnd len="med" w="med" type="none"/>
            <a:tailEnd len="med" w="med" type="stealth"/>
          </a:ln>
        </p:spPr>
      </p:sp>
      <p:sp>
        <p:nvSpPr>
          <p:cNvPr id="156" name="Google Shape;156;p19"/>
          <p:cNvSpPr/>
          <p:nvPr/>
        </p:nvSpPr>
        <p:spPr>
          <a:xfrm>
            <a:off x="819000" y="1678075"/>
            <a:ext cx="344700" cy="2628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57" name="Google Shape;157;p19"/>
          <p:cNvSpPr/>
          <p:nvPr/>
        </p:nvSpPr>
        <p:spPr>
          <a:xfrm>
            <a:off x="7110475" y="1264113"/>
            <a:ext cx="474900" cy="321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58" name="Google Shape;158;p19"/>
          <p:cNvSpPr/>
          <p:nvPr/>
        </p:nvSpPr>
        <p:spPr>
          <a:xfrm>
            <a:off x="819000" y="1953775"/>
            <a:ext cx="344700" cy="480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59" name="Google Shape;159;p19"/>
          <p:cNvSpPr/>
          <p:nvPr/>
        </p:nvSpPr>
        <p:spPr>
          <a:xfrm>
            <a:off x="7110625" y="860638"/>
            <a:ext cx="4749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0" name="Google Shape;160;p19"/>
          <p:cNvSpPr/>
          <p:nvPr/>
        </p:nvSpPr>
        <p:spPr>
          <a:xfrm>
            <a:off x="6344325" y="233097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1" name="Google Shape;161;p19"/>
          <p:cNvSpPr/>
          <p:nvPr/>
        </p:nvSpPr>
        <p:spPr>
          <a:xfrm>
            <a:off x="7037550" y="231657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2" name="Google Shape;162;p19"/>
          <p:cNvSpPr/>
          <p:nvPr/>
        </p:nvSpPr>
        <p:spPr>
          <a:xfrm>
            <a:off x="3707625" y="2330975"/>
            <a:ext cx="5619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3" name="Google Shape;163;p19"/>
          <p:cNvSpPr/>
          <p:nvPr/>
        </p:nvSpPr>
        <p:spPr>
          <a:xfrm>
            <a:off x="4318025" y="2331600"/>
            <a:ext cx="10971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4" name="Google Shape;164;p19"/>
          <p:cNvSpPr txBox="1"/>
          <p:nvPr/>
        </p:nvSpPr>
        <p:spPr>
          <a:xfrm>
            <a:off x="5613475" y="2637250"/>
            <a:ext cx="77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Bias</a:t>
            </a:r>
            <a:endParaRPr sz="1600">
              <a:solidFill>
                <a:schemeClr val="dk1"/>
              </a:solidFill>
            </a:endParaRPr>
          </a:p>
        </p:txBody>
      </p:sp>
      <p:sp>
        <p:nvSpPr>
          <p:cNvPr id="165" name="Google Shape;165;p19"/>
          <p:cNvSpPr txBox="1"/>
          <p:nvPr/>
        </p:nvSpPr>
        <p:spPr>
          <a:xfrm>
            <a:off x="6513200" y="2637250"/>
            <a:ext cx="118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Car/IMU</a:t>
            </a:r>
            <a:endParaRPr sz="1600">
              <a:solidFill>
                <a:schemeClr val="dk1"/>
              </a:solidFill>
            </a:endParaRPr>
          </a:p>
        </p:txBody>
      </p:sp>
      <p:sp>
        <p:nvSpPr>
          <p:cNvPr id="166" name="Google Shape;166;p19"/>
          <p:cNvSpPr txBox="1"/>
          <p:nvPr/>
        </p:nvSpPr>
        <p:spPr>
          <a:xfrm>
            <a:off x="3848650" y="2637250"/>
            <a:ext cx="1267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IMU/Global</a:t>
            </a:r>
            <a:endParaRPr sz="1600">
              <a:solidFill>
                <a:schemeClr val="dk1"/>
              </a:solidFill>
            </a:endParaRPr>
          </a:p>
        </p:txBody>
      </p:sp>
      <p:sp>
        <p:nvSpPr>
          <p:cNvPr id="167" name="Google Shape;167;p19"/>
          <p:cNvSpPr/>
          <p:nvPr/>
        </p:nvSpPr>
        <p:spPr>
          <a:xfrm>
            <a:off x="8351050" y="1930850"/>
            <a:ext cx="7710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highlight>
                  <a:schemeClr val="lt1"/>
                </a:highlight>
              </a:rPr>
              <a:t>SO(3)</a:t>
            </a:r>
            <a:endParaRPr>
              <a:highlight>
                <a:schemeClr val="lt1"/>
              </a:highlight>
            </a:endParaRPr>
          </a:p>
        </p:txBody>
      </p:sp>
      <p:sp>
        <p:nvSpPr>
          <p:cNvPr id="168" name="Google Shape;168;p19"/>
          <p:cNvSpPr/>
          <p:nvPr/>
        </p:nvSpPr>
        <p:spPr>
          <a:xfrm>
            <a:off x="8322875" y="2485125"/>
            <a:ext cx="771000" cy="3051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pic>
        <p:nvPicPr>
          <p:cNvPr id="169" name="Google Shape;169;p19"/>
          <p:cNvPicPr preferRelativeResize="0"/>
          <p:nvPr/>
        </p:nvPicPr>
        <p:blipFill>
          <a:blip r:embed="rId10">
            <a:alphaModFix/>
          </a:blip>
          <a:stretch>
            <a:fillRect/>
          </a:stretch>
        </p:blipFill>
        <p:spPr>
          <a:xfrm>
            <a:off x="7944763" y="2477725"/>
            <a:ext cx="344700" cy="319895"/>
          </a:xfrm>
          <a:prstGeom prst="rect">
            <a:avLst/>
          </a:prstGeom>
          <a:noFill/>
          <a:ln>
            <a:noFill/>
          </a:ln>
        </p:spPr>
      </p:pic>
      <p:pic>
        <p:nvPicPr>
          <p:cNvPr id="170" name="Google Shape;170;p19"/>
          <p:cNvPicPr preferRelativeResize="0"/>
          <p:nvPr/>
        </p:nvPicPr>
        <p:blipFill>
          <a:blip r:embed="rId11">
            <a:alphaModFix/>
          </a:blip>
          <a:stretch>
            <a:fillRect/>
          </a:stretch>
        </p:blipFill>
        <p:spPr>
          <a:xfrm>
            <a:off x="7964625" y="1939000"/>
            <a:ext cx="305000" cy="305000"/>
          </a:xfrm>
          <a:prstGeom prst="rect">
            <a:avLst/>
          </a:prstGeom>
          <a:noFill/>
          <a:ln>
            <a:noFill/>
          </a:ln>
        </p:spPr>
      </p:pic>
      <p:sp>
        <p:nvSpPr>
          <p:cNvPr id="171" name="Google Shape;171;p19"/>
          <p:cNvSpPr/>
          <p:nvPr/>
        </p:nvSpPr>
        <p:spPr>
          <a:xfrm>
            <a:off x="6875228" y="1264125"/>
            <a:ext cx="197155" cy="1067515"/>
          </a:xfrm>
          <a:custGeom>
            <a:rect b="b" l="l" r="r" t="t"/>
            <a:pathLst>
              <a:path extrusionOk="0" h="40257" w="10731">
                <a:moveTo>
                  <a:pt x="5341" y="40257"/>
                </a:moveTo>
                <a:cubicBezTo>
                  <a:pt x="4472" y="37382"/>
                  <a:pt x="-769" y="29714"/>
                  <a:pt x="129" y="23004"/>
                </a:cubicBezTo>
                <a:cubicBezTo>
                  <a:pt x="1028" y="16295"/>
                  <a:pt x="8965" y="3834"/>
                  <a:pt x="10732" y="0"/>
                </a:cubicBezTo>
              </a:path>
            </a:pathLst>
          </a:custGeom>
          <a:noFill/>
          <a:ln cap="flat" cmpd="sng" w="28575">
            <a:solidFill>
              <a:schemeClr val="dk2"/>
            </a:solidFill>
            <a:prstDash val="solid"/>
            <a:round/>
            <a:headEnd len="med" w="med" type="none"/>
            <a:tailEnd len="med" w="med" type="stealth"/>
          </a:ln>
        </p:spPr>
      </p:sp>
      <p:pic>
        <p:nvPicPr>
          <p:cNvPr id="172" name="Google Shape;172;p19"/>
          <p:cNvPicPr preferRelativeResize="0"/>
          <p:nvPr/>
        </p:nvPicPr>
        <p:blipFill>
          <a:blip r:embed="rId12">
            <a:alphaModFix/>
          </a:blip>
          <a:stretch>
            <a:fillRect/>
          </a:stretch>
        </p:blipFill>
        <p:spPr>
          <a:xfrm>
            <a:off x="4375376" y="4005775"/>
            <a:ext cx="4160059" cy="802300"/>
          </a:xfrm>
          <a:prstGeom prst="rect">
            <a:avLst/>
          </a:prstGeom>
          <a:noFill/>
          <a:ln>
            <a:noFill/>
          </a:ln>
        </p:spPr>
      </p:pic>
      <p:sp>
        <p:nvSpPr>
          <p:cNvPr id="173" name="Google Shape;173;p19"/>
          <p:cNvSpPr txBox="1"/>
          <p:nvPr/>
        </p:nvSpPr>
        <p:spPr>
          <a:xfrm>
            <a:off x="5047525" y="3427213"/>
            <a:ext cx="2965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Affine Group Theory</a:t>
            </a:r>
            <a:endParaRPr sz="2100">
              <a:solidFill>
                <a:schemeClr val="dk1"/>
              </a:solidFill>
            </a:endParaRPr>
          </a:p>
        </p:txBody>
      </p:sp>
      <p:cxnSp>
        <p:nvCxnSpPr>
          <p:cNvPr id="174" name="Google Shape;174;p19"/>
          <p:cNvCxnSpPr/>
          <p:nvPr/>
        </p:nvCxnSpPr>
        <p:spPr>
          <a:xfrm flipH="1">
            <a:off x="5039425" y="3679988"/>
            <a:ext cx="2560800" cy="1800"/>
          </a:xfrm>
          <a:prstGeom prst="straightConnector1">
            <a:avLst/>
          </a:prstGeom>
          <a:noFill/>
          <a:ln cap="flat" cmpd="sng" w="19050">
            <a:solidFill>
              <a:schemeClr val="dk2"/>
            </a:solidFill>
            <a:prstDash val="solid"/>
            <a:round/>
            <a:headEnd len="med" w="med" type="none"/>
            <a:tailEnd len="med" w="med" type="none"/>
          </a:ln>
        </p:spPr>
      </p:cxnSp>
      <p:sp>
        <p:nvSpPr>
          <p:cNvPr id="175" name="Google Shape;175;p19"/>
          <p:cNvSpPr/>
          <p:nvPr/>
        </p:nvSpPr>
        <p:spPr>
          <a:xfrm>
            <a:off x="4172995" y="3008775"/>
            <a:ext cx="597625" cy="1342975"/>
          </a:xfrm>
          <a:custGeom>
            <a:rect b="b" l="l" r="r" t="t"/>
            <a:pathLst>
              <a:path extrusionOk="0" h="53719" w="23905">
                <a:moveTo>
                  <a:pt x="9295" y="0"/>
                </a:moveTo>
                <a:cubicBezTo>
                  <a:pt x="7798" y="4233"/>
                  <a:pt x="-1650" y="16882"/>
                  <a:pt x="312" y="25400"/>
                </a:cubicBezTo>
                <a:cubicBezTo>
                  <a:pt x="2274" y="33918"/>
                  <a:pt x="17142" y="46514"/>
                  <a:pt x="21066" y="51109"/>
                </a:cubicBezTo>
                <a:cubicBezTo>
                  <a:pt x="24990" y="55704"/>
                  <a:pt x="23389" y="52658"/>
                  <a:pt x="23854" y="52968"/>
                </a:cubicBezTo>
              </a:path>
            </a:pathLst>
          </a:custGeom>
          <a:noFill/>
          <a:ln cap="flat" cmpd="sng" w="28575">
            <a:solidFill>
              <a:schemeClr val="dk2"/>
            </a:solidFill>
            <a:prstDash val="solid"/>
            <a:round/>
            <a:headEnd len="med" w="med" type="none"/>
            <a:tailEnd len="med" w="med" type="stealth"/>
          </a:ln>
        </p:spPr>
      </p:sp>
      <p:sp>
        <p:nvSpPr>
          <p:cNvPr id="176" name="Google Shape;176;p19"/>
          <p:cNvSpPr txBox="1"/>
          <p:nvPr/>
        </p:nvSpPr>
        <p:spPr>
          <a:xfrm>
            <a:off x="5152875" y="4808075"/>
            <a:ext cx="506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t>
            </a:r>
            <a:r>
              <a:rPr lang="en"/>
              <a:t>xtension of Lie group SE(3)</a:t>
            </a:r>
            <a:endParaRPr/>
          </a:p>
        </p:txBody>
      </p:sp>
      <p:sp>
        <p:nvSpPr>
          <p:cNvPr id="177" name="Google Shape;17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0"/>
          <p:cNvPicPr preferRelativeResize="0"/>
          <p:nvPr/>
        </p:nvPicPr>
        <p:blipFill>
          <a:blip r:embed="rId3">
            <a:alphaModFix/>
          </a:blip>
          <a:stretch>
            <a:fillRect/>
          </a:stretch>
        </p:blipFill>
        <p:spPr>
          <a:xfrm>
            <a:off x="8535425" y="2476974"/>
            <a:ext cx="344700" cy="305012"/>
          </a:xfrm>
          <a:prstGeom prst="rect">
            <a:avLst/>
          </a:prstGeom>
          <a:noFill/>
          <a:ln>
            <a:noFill/>
          </a:ln>
        </p:spPr>
      </p:pic>
      <p:pic>
        <p:nvPicPr>
          <p:cNvPr id="183" name="Google Shape;183;p20"/>
          <p:cNvPicPr preferRelativeResize="0"/>
          <p:nvPr/>
        </p:nvPicPr>
        <p:blipFill>
          <a:blip r:embed="rId4">
            <a:alphaModFix/>
          </a:blip>
          <a:stretch>
            <a:fillRect/>
          </a:stretch>
        </p:blipFill>
        <p:spPr>
          <a:xfrm>
            <a:off x="7072375" y="874863"/>
            <a:ext cx="1978143" cy="670900"/>
          </a:xfrm>
          <a:prstGeom prst="rect">
            <a:avLst/>
          </a:prstGeom>
          <a:noFill/>
          <a:ln>
            <a:noFill/>
          </a:ln>
        </p:spPr>
      </p:pic>
      <p:pic>
        <p:nvPicPr>
          <p:cNvPr id="184" name="Google Shape;184;p20"/>
          <p:cNvPicPr preferRelativeResize="0"/>
          <p:nvPr/>
        </p:nvPicPr>
        <p:blipFill>
          <a:blip r:embed="rId5">
            <a:alphaModFix/>
          </a:blip>
          <a:stretch>
            <a:fillRect/>
          </a:stretch>
        </p:blipFill>
        <p:spPr>
          <a:xfrm>
            <a:off x="819000" y="1674675"/>
            <a:ext cx="1719301" cy="802302"/>
          </a:xfrm>
          <a:prstGeom prst="rect">
            <a:avLst/>
          </a:prstGeom>
          <a:noFill/>
          <a:ln>
            <a:noFill/>
          </a:ln>
        </p:spPr>
      </p:pic>
      <p:sp>
        <p:nvSpPr>
          <p:cNvPr id="185" name="Google Shape;185;p20"/>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IMU Modelling - Propagation</a:t>
            </a:r>
            <a:endParaRPr/>
          </a:p>
          <a:p>
            <a:pPr indent="0" lvl="0" marL="0" rtl="0" algn="l">
              <a:spcBef>
                <a:spcPts val="0"/>
              </a:spcBef>
              <a:spcAft>
                <a:spcPts val="0"/>
              </a:spcAft>
              <a:buNone/>
            </a:pPr>
            <a:r>
              <a:t/>
            </a:r>
            <a:endParaRPr/>
          </a:p>
        </p:txBody>
      </p:sp>
      <p:pic>
        <p:nvPicPr>
          <p:cNvPr id="186" name="Google Shape;186;p20"/>
          <p:cNvPicPr preferRelativeResize="0"/>
          <p:nvPr/>
        </p:nvPicPr>
        <p:blipFill>
          <a:blip r:embed="rId6">
            <a:alphaModFix/>
          </a:blip>
          <a:stretch>
            <a:fillRect/>
          </a:stretch>
        </p:blipFill>
        <p:spPr>
          <a:xfrm>
            <a:off x="0" y="3033650"/>
            <a:ext cx="3792151" cy="2109851"/>
          </a:xfrm>
          <a:prstGeom prst="rect">
            <a:avLst/>
          </a:prstGeom>
          <a:noFill/>
          <a:ln>
            <a:noFill/>
          </a:ln>
        </p:spPr>
      </p:pic>
      <p:pic>
        <p:nvPicPr>
          <p:cNvPr id="187" name="Google Shape;187;p20"/>
          <p:cNvPicPr preferRelativeResize="0"/>
          <p:nvPr/>
        </p:nvPicPr>
        <p:blipFill>
          <a:blip r:embed="rId7">
            <a:alphaModFix/>
          </a:blip>
          <a:stretch>
            <a:fillRect/>
          </a:stretch>
        </p:blipFill>
        <p:spPr>
          <a:xfrm>
            <a:off x="2857800" y="2239188"/>
            <a:ext cx="4981726" cy="617825"/>
          </a:xfrm>
          <a:prstGeom prst="rect">
            <a:avLst/>
          </a:prstGeom>
          <a:noFill/>
          <a:ln>
            <a:noFill/>
          </a:ln>
        </p:spPr>
      </p:pic>
      <p:pic>
        <p:nvPicPr>
          <p:cNvPr id="188" name="Google Shape;188;p20"/>
          <p:cNvPicPr preferRelativeResize="0"/>
          <p:nvPr/>
        </p:nvPicPr>
        <p:blipFill>
          <a:blip r:embed="rId8">
            <a:alphaModFix/>
          </a:blip>
          <a:stretch>
            <a:fillRect/>
          </a:stretch>
        </p:blipFill>
        <p:spPr>
          <a:xfrm>
            <a:off x="1040250" y="982825"/>
            <a:ext cx="1817551" cy="480400"/>
          </a:xfrm>
          <a:prstGeom prst="rect">
            <a:avLst/>
          </a:prstGeom>
          <a:noFill/>
          <a:ln>
            <a:noFill/>
          </a:ln>
        </p:spPr>
      </p:pic>
      <p:pic>
        <p:nvPicPr>
          <p:cNvPr id="189" name="Google Shape;189;p20"/>
          <p:cNvPicPr preferRelativeResize="0"/>
          <p:nvPr/>
        </p:nvPicPr>
        <p:blipFill>
          <a:blip r:embed="rId9">
            <a:alphaModFix/>
          </a:blip>
          <a:stretch>
            <a:fillRect/>
          </a:stretch>
        </p:blipFill>
        <p:spPr>
          <a:xfrm>
            <a:off x="4014800" y="846562"/>
            <a:ext cx="1482400" cy="517075"/>
          </a:xfrm>
          <a:prstGeom prst="rect">
            <a:avLst/>
          </a:prstGeom>
          <a:noFill/>
          <a:ln>
            <a:noFill/>
          </a:ln>
        </p:spPr>
      </p:pic>
      <p:sp>
        <p:nvSpPr>
          <p:cNvPr id="190" name="Google Shape;190;p20"/>
          <p:cNvSpPr/>
          <p:nvPr/>
        </p:nvSpPr>
        <p:spPr>
          <a:xfrm>
            <a:off x="5288950" y="1318675"/>
            <a:ext cx="653167" cy="997908"/>
          </a:xfrm>
          <a:custGeom>
            <a:rect b="b" l="l" r="r" t="t"/>
            <a:pathLst>
              <a:path extrusionOk="0" h="29755" w="22860">
                <a:moveTo>
                  <a:pt x="22860" y="29755"/>
                </a:moveTo>
                <a:cubicBezTo>
                  <a:pt x="22134" y="27759"/>
                  <a:pt x="21046" y="21651"/>
                  <a:pt x="18506" y="17780"/>
                </a:cubicBezTo>
                <a:cubicBezTo>
                  <a:pt x="15966" y="13910"/>
                  <a:pt x="10704" y="9495"/>
                  <a:pt x="7620" y="6532"/>
                </a:cubicBezTo>
                <a:cubicBezTo>
                  <a:pt x="4536" y="3569"/>
                  <a:pt x="1270" y="1089"/>
                  <a:pt x="0" y="0"/>
                </a:cubicBezTo>
              </a:path>
            </a:pathLst>
          </a:custGeom>
          <a:noFill/>
          <a:ln cap="flat" cmpd="sng" w="28575">
            <a:solidFill>
              <a:schemeClr val="dk2"/>
            </a:solidFill>
            <a:prstDash val="solid"/>
            <a:round/>
            <a:headEnd len="med" w="med" type="none"/>
            <a:tailEnd len="med" w="med" type="stealth"/>
          </a:ln>
        </p:spPr>
      </p:sp>
      <p:sp>
        <p:nvSpPr>
          <p:cNvPr id="191" name="Google Shape;191;p20"/>
          <p:cNvSpPr/>
          <p:nvPr/>
        </p:nvSpPr>
        <p:spPr>
          <a:xfrm>
            <a:off x="2222800" y="719976"/>
            <a:ext cx="1868761" cy="262850"/>
          </a:xfrm>
          <a:custGeom>
            <a:rect b="b" l="l" r="r" t="t"/>
            <a:pathLst>
              <a:path extrusionOk="0" h="8557" w="75475">
                <a:moveTo>
                  <a:pt x="75475" y="4928"/>
                </a:moveTo>
                <a:cubicBezTo>
                  <a:pt x="70576" y="4202"/>
                  <a:pt x="56243" y="1239"/>
                  <a:pt x="46083" y="574"/>
                </a:cubicBezTo>
                <a:cubicBezTo>
                  <a:pt x="35923" y="-91"/>
                  <a:pt x="22196" y="-393"/>
                  <a:pt x="14515" y="937"/>
                </a:cubicBezTo>
                <a:cubicBezTo>
                  <a:pt x="6835" y="2268"/>
                  <a:pt x="2419" y="7287"/>
                  <a:pt x="0" y="8557"/>
                </a:cubicBezTo>
              </a:path>
            </a:pathLst>
          </a:custGeom>
          <a:noFill/>
          <a:ln cap="flat" cmpd="sng" w="28575">
            <a:solidFill>
              <a:schemeClr val="dk2"/>
            </a:solidFill>
            <a:prstDash val="solid"/>
            <a:round/>
            <a:headEnd len="med" w="med" type="none"/>
            <a:tailEnd len="med" w="med" type="stealth"/>
          </a:ln>
        </p:spPr>
      </p:sp>
      <p:sp>
        <p:nvSpPr>
          <p:cNvPr id="192" name="Google Shape;192;p20"/>
          <p:cNvSpPr/>
          <p:nvPr/>
        </p:nvSpPr>
        <p:spPr>
          <a:xfrm>
            <a:off x="501610" y="1162325"/>
            <a:ext cx="513000" cy="670900"/>
          </a:xfrm>
          <a:custGeom>
            <a:rect b="b" l="l" r="r" t="t"/>
            <a:pathLst>
              <a:path extrusionOk="0" h="26836" w="20520">
                <a:moveTo>
                  <a:pt x="20521" y="0"/>
                </a:moveTo>
                <a:cubicBezTo>
                  <a:pt x="17153" y="1325"/>
                  <a:pt x="2244" y="3478"/>
                  <a:pt x="311" y="7951"/>
                </a:cubicBezTo>
                <a:cubicBezTo>
                  <a:pt x="-1622" y="12424"/>
                  <a:pt x="7489" y="23689"/>
                  <a:pt x="8925" y="26836"/>
                </a:cubicBezTo>
              </a:path>
            </a:pathLst>
          </a:custGeom>
          <a:noFill/>
          <a:ln cap="flat" cmpd="sng" w="28575">
            <a:solidFill>
              <a:schemeClr val="dk2"/>
            </a:solidFill>
            <a:prstDash val="solid"/>
            <a:round/>
            <a:headEnd len="med" w="med" type="none"/>
            <a:tailEnd len="med" w="med" type="stealth"/>
          </a:ln>
        </p:spPr>
      </p:sp>
      <p:sp>
        <p:nvSpPr>
          <p:cNvPr id="193" name="Google Shape;193;p20"/>
          <p:cNvSpPr/>
          <p:nvPr/>
        </p:nvSpPr>
        <p:spPr>
          <a:xfrm>
            <a:off x="2787100" y="2040275"/>
            <a:ext cx="1482432" cy="262864"/>
          </a:xfrm>
          <a:custGeom>
            <a:rect b="b" l="l" r="r" t="t"/>
            <a:pathLst>
              <a:path extrusionOk="0" h="12259" w="49696">
                <a:moveTo>
                  <a:pt x="0" y="0"/>
                </a:moveTo>
                <a:cubicBezTo>
                  <a:pt x="4804" y="331"/>
                  <a:pt x="20540" y="-55"/>
                  <a:pt x="28823" y="1988"/>
                </a:cubicBezTo>
                <a:cubicBezTo>
                  <a:pt x="37106" y="4031"/>
                  <a:pt x="46217" y="10547"/>
                  <a:pt x="49696" y="12259"/>
                </a:cubicBezTo>
              </a:path>
            </a:pathLst>
          </a:custGeom>
          <a:noFill/>
          <a:ln cap="flat" cmpd="sng" w="28575">
            <a:solidFill>
              <a:schemeClr val="dk2"/>
            </a:solidFill>
            <a:prstDash val="solid"/>
            <a:round/>
            <a:headEnd len="med" w="med" type="none"/>
            <a:tailEnd len="med" w="med" type="stealth"/>
          </a:ln>
        </p:spPr>
      </p:sp>
      <p:sp>
        <p:nvSpPr>
          <p:cNvPr id="194" name="Google Shape;194;p20"/>
          <p:cNvSpPr/>
          <p:nvPr/>
        </p:nvSpPr>
        <p:spPr>
          <a:xfrm>
            <a:off x="819000" y="1678075"/>
            <a:ext cx="344700" cy="2628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5" name="Google Shape;195;p20"/>
          <p:cNvSpPr/>
          <p:nvPr/>
        </p:nvSpPr>
        <p:spPr>
          <a:xfrm>
            <a:off x="7110475" y="1264113"/>
            <a:ext cx="474900" cy="321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6" name="Google Shape;196;p20"/>
          <p:cNvSpPr/>
          <p:nvPr/>
        </p:nvSpPr>
        <p:spPr>
          <a:xfrm>
            <a:off x="819000" y="1953775"/>
            <a:ext cx="344700" cy="480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7" name="Google Shape;197;p20"/>
          <p:cNvSpPr/>
          <p:nvPr/>
        </p:nvSpPr>
        <p:spPr>
          <a:xfrm>
            <a:off x="7110625" y="860638"/>
            <a:ext cx="4749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8" name="Google Shape;198;p20"/>
          <p:cNvSpPr/>
          <p:nvPr/>
        </p:nvSpPr>
        <p:spPr>
          <a:xfrm>
            <a:off x="6344325" y="233097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9" name="Google Shape;199;p20"/>
          <p:cNvSpPr/>
          <p:nvPr/>
        </p:nvSpPr>
        <p:spPr>
          <a:xfrm>
            <a:off x="7037550" y="231657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00" name="Google Shape;200;p20"/>
          <p:cNvSpPr/>
          <p:nvPr/>
        </p:nvSpPr>
        <p:spPr>
          <a:xfrm>
            <a:off x="3707625" y="2330975"/>
            <a:ext cx="5619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01" name="Google Shape;201;p20"/>
          <p:cNvSpPr/>
          <p:nvPr/>
        </p:nvSpPr>
        <p:spPr>
          <a:xfrm>
            <a:off x="4318025" y="2331600"/>
            <a:ext cx="10971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02" name="Google Shape;202;p20"/>
          <p:cNvSpPr txBox="1"/>
          <p:nvPr/>
        </p:nvSpPr>
        <p:spPr>
          <a:xfrm>
            <a:off x="5613475" y="2637250"/>
            <a:ext cx="77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Bias</a:t>
            </a:r>
            <a:endParaRPr sz="1600">
              <a:solidFill>
                <a:schemeClr val="dk1"/>
              </a:solidFill>
            </a:endParaRPr>
          </a:p>
        </p:txBody>
      </p:sp>
      <p:sp>
        <p:nvSpPr>
          <p:cNvPr id="203" name="Google Shape;203;p20"/>
          <p:cNvSpPr txBox="1"/>
          <p:nvPr/>
        </p:nvSpPr>
        <p:spPr>
          <a:xfrm>
            <a:off x="6513200" y="2637250"/>
            <a:ext cx="118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Car/IMU</a:t>
            </a:r>
            <a:endParaRPr sz="1600">
              <a:solidFill>
                <a:schemeClr val="dk1"/>
              </a:solidFill>
            </a:endParaRPr>
          </a:p>
        </p:txBody>
      </p:sp>
      <p:sp>
        <p:nvSpPr>
          <p:cNvPr id="204" name="Google Shape;204;p20"/>
          <p:cNvSpPr txBox="1"/>
          <p:nvPr/>
        </p:nvSpPr>
        <p:spPr>
          <a:xfrm>
            <a:off x="3848650" y="2637250"/>
            <a:ext cx="1267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IMU/Global</a:t>
            </a:r>
            <a:endParaRPr sz="1600">
              <a:solidFill>
                <a:schemeClr val="dk1"/>
              </a:solidFill>
            </a:endParaRPr>
          </a:p>
        </p:txBody>
      </p:sp>
      <p:sp>
        <p:nvSpPr>
          <p:cNvPr id="205" name="Google Shape;205;p20"/>
          <p:cNvSpPr/>
          <p:nvPr/>
        </p:nvSpPr>
        <p:spPr>
          <a:xfrm>
            <a:off x="8351050" y="1930850"/>
            <a:ext cx="7710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highlight>
                  <a:schemeClr val="lt1"/>
                </a:highlight>
              </a:rPr>
              <a:t>SO(3)</a:t>
            </a:r>
            <a:endParaRPr>
              <a:highlight>
                <a:schemeClr val="lt1"/>
              </a:highlight>
            </a:endParaRPr>
          </a:p>
        </p:txBody>
      </p:sp>
      <p:sp>
        <p:nvSpPr>
          <p:cNvPr id="206" name="Google Shape;206;p20"/>
          <p:cNvSpPr/>
          <p:nvPr/>
        </p:nvSpPr>
        <p:spPr>
          <a:xfrm>
            <a:off x="8322875" y="2485125"/>
            <a:ext cx="771000" cy="3051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pic>
        <p:nvPicPr>
          <p:cNvPr id="207" name="Google Shape;207;p20"/>
          <p:cNvPicPr preferRelativeResize="0"/>
          <p:nvPr/>
        </p:nvPicPr>
        <p:blipFill>
          <a:blip r:embed="rId10">
            <a:alphaModFix/>
          </a:blip>
          <a:stretch>
            <a:fillRect/>
          </a:stretch>
        </p:blipFill>
        <p:spPr>
          <a:xfrm>
            <a:off x="7944763" y="2477725"/>
            <a:ext cx="344700" cy="319895"/>
          </a:xfrm>
          <a:prstGeom prst="rect">
            <a:avLst/>
          </a:prstGeom>
          <a:noFill/>
          <a:ln>
            <a:noFill/>
          </a:ln>
        </p:spPr>
      </p:pic>
      <p:pic>
        <p:nvPicPr>
          <p:cNvPr id="208" name="Google Shape;208;p20"/>
          <p:cNvPicPr preferRelativeResize="0"/>
          <p:nvPr/>
        </p:nvPicPr>
        <p:blipFill>
          <a:blip r:embed="rId11">
            <a:alphaModFix/>
          </a:blip>
          <a:stretch>
            <a:fillRect/>
          </a:stretch>
        </p:blipFill>
        <p:spPr>
          <a:xfrm>
            <a:off x="7964625" y="1939000"/>
            <a:ext cx="305000" cy="305000"/>
          </a:xfrm>
          <a:prstGeom prst="rect">
            <a:avLst/>
          </a:prstGeom>
          <a:noFill/>
          <a:ln>
            <a:noFill/>
          </a:ln>
        </p:spPr>
      </p:pic>
      <p:sp>
        <p:nvSpPr>
          <p:cNvPr id="209" name="Google Shape;209;p20"/>
          <p:cNvSpPr txBox="1"/>
          <p:nvPr/>
        </p:nvSpPr>
        <p:spPr>
          <a:xfrm>
            <a:off x="5047525" y="3427213"/>
            <a:ext cx="2965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Affine </a:t>
            </a:r>
            <a:r>
              <a:rPr lang="en" sz="2100">
                <a:solidFill>
                  <a:schemeClr val="dk1"/>
                </a:solidFill>
              </a:rPr>
              <a:t>G</a:t>
            </a:r>
            <a:r>
              <a:rPr lang="en" sz="2100">
                <a:solidFill>
                  <a:schemeClr val="dk1"/>
                </a:solidFill>
              </a:rPr>
              <a:t>roup Theory</a:t>
            </a:r>
            <a:endParaRPr sz="2100">
              <a:solidFill>
                <a:schemeClr val="dk1"/>
              </a:solidFill>
            </a:endParaRPr>
          </a:p>
        </p:txBody>
      </p:sp>
      <p:sp>
        <p:nvSpPr>
          <p:cNvPr id="210" name="Google Shape;210;p20"/>
          <p:cNvSpPr/>
          <p:nvPr/>
        </p:nvSpPr>
        <p:spPr>
          <a:xfrm>
            <a:off x="6875228" y="1264125"/>
            <a:ext cx="197155" cy="1067515"/>
          </a:xfrm>
          <a:custGeom>
            <a:rect b="b" l="l" r="r" t="t"/>
            <a:pathLst>
              <a:path extrusionOk="0" h="40257" w="10731">
                <a:moveTo>
                  <a:pt x="5341" y="40257"/>
                </a:moveTo>
                <a:cubicBezTo>
                  <a:pt x="4472" y="37382"/>
                  <a:pt x="-769" y="29714"/>
                  <a:pt x="129" y="23004"/>
                </a:cubicBezTo>
                <a:cubicBezTo>
                  <a:pt x="1028" y="16295"/>
                  <a:pt x="8965" y="3834"/>
                  <a:pt x="10732" y="0"/>
                </a:cubicBezTo>
              </a:path>
            </a:pathLst>
          </a:custGeom>
          <a:noFill/>
          <a:ln cap="flat" cmpd="sng" w="28575">
            <a:solidFill>
              <a:schemeClr val="dk2"/>
            </a:solidFill>
            <a:prstDash val="solid"/>
            <a:round/>
            <a:headEnd len="med" w="med" type="none"/>
            <a:tailEnd len="med" w="med" type="stealth"/>
          </a:ln>
        </p:spPr>
      </p:sp>
      <p:cxnSp>
        <p:nvCxnSpPr>
          <p:cNvPr id="211" name="Google Shape;211;p20"/>
          <p:cNvCxnSpPr/>
          <p:nvPr/>
        </p:nvCxnSpPr>
        <p:spPr>
          <a:xfrm flipH="1">
            <a:off x="5039425" y="3679988"/>
            <a:ext cx="2560800" cy="1800"/>
          </a:xfrm>
          <a:prstGeom prst="straightConnector1">
            <a:avLst/>
          </a:prstGeom>
          <a:noFill/>
          <a:ln cap="flat" cmpd="sng" w="19050">
            <a:solidFill>
              <a:schemeClr val="dk2"/>
            </a:solidFill>
            <a:prstDash val="solid"/>
            <a:round/>
            <a:headEnd len="med" w="med" type="none"/>
            <a:tailEnd len="med" w="med" type="none"/>
          </a:ln>
        </p:spPr>
      </p:cxnSp>
      <p:pic>
        <p:nvPicPr>
          <p:cNvPr id="212" name="Google Shape;212;p20"/>
          <p:cNvPicPr preferRelativeResize="0"/>
          <p:nvPr/>
        </p:nvPicPr>
        <p:blipFill>
          <a:blip r:embed="rId7">
            <a:alphaModFix/>
          </a:blip>
          <a:stretch>
            <a:fillRect/>
          </a:stretch>
        </p:blipFill>
        <p:spPr>
          <a:xfrm>
            <a:off x="3961900" y="4101338"/>
            <a:ext cx="4981726" cy="617825"/>
          </a:xfrm>
          <a:prstGeom prst="rect">
            <a:avLst/>
          </a:prstGeom>
          <a:noFill/>
          <a:ln>
            <a:noFill/>
          </a:ln>
        </p:spPr>
      </p:pic>
      <p:sp>
        <p:nvSpPr>
          <p:cNvPr id="213" name="Google Shape;213;p20"/>
          <p:cNvSpPr/>
          <p:nvPr/>
        </p:nvSpPr>
        <p:spPr>
          <a:xfrm>
            <a:off x="6598325" y="417872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14" name="Google Shape;214;p20"/>
          <p:cNvSpPr/>
          <p:nvPr/>
        </p:nvSpPr>
        <p:spPr>
          <a:xfrm>
            <a:off x="7448425" y="419312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15" name="Google Shape;215;p20"/>
          <p:cNvSpPr/>
          <p:nvPr/>
        </p:nvSpPr>
        <p:spPr>
          <a:xfrm>
            <a:off x="8141650" y="417872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16" name="Google Shape;216;p20"/>
          <p:cNvSpPr/>
          <p:nvPr/>
        </p:nvSpPr>
        <p:spPr>
          <a:xfrm>
            <a:off x="4799925" y="4193750"/>
            <a:ext cx="1719300" cy="381000"/>
          </a:xfrm>
          <a:prstGeom prst="roundRect">
            <a:avLst>
              <a:gd fmla="val 16667" name="adj"/>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1"/>
              </a:highlight>
            </a:endParaRPr>
          </a:p>
        </p:txBody>
      </p:sp>
      <p:pic>
        <p:nvPicPr>
          <p:cNvPr id="217" name="Google Shape;217;p20"/>
          <p:cNvPicPr preferRelativeResize="0"/>
          <p:nvPr/>
        </p:nvPicPr>
        <p:blipFill>
          <a:blip r:embed="rId11">
            <a:alphaModFix/>
          </a:blip>
          <a:stretch>
            <a:fillRect/>
          </a:stretch>
        </p:blipFill>
        <p:spPr>
          <a:xfrm>
            <a:off x="7659325" y="4830450"/>
            <a:ext cx="262800" cy="262800"/>
          </a:xfrm>
          <a:prstGeom prst="rect">
            <a:avLst/>
          </a:prstGeom>
          <a:noFill/>
          <a:ln>
            <a:noFill/>
          </a:ln>
        </p:spPr>
      </p:pic>
      <p:sp>
        <p:nvSpPr>
          <p:cNvPr id="218" name="Google Shape;218;p20"/>
          <p:cNvSpPr txBox="1"/>
          <p:nvPr/>
        </p:nvSpPr>
        <p:spPr>
          <a:xfrm>
            <a:off x="7448425" y="4505325"/>
            <a:ext cx="684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highlight>
                  <a:schemeClr val="lt1"/>
                </a:highlight>
              </a:rPr>
              <a:t>SO(3)</a:t>
            </a:r>
            <a:endParaRPr>
              <a:solidFill>
                <a:schemeClr val="dk1"/>
              </a:solidFill>
              <a:highlight>
                <a:schemeClr val="lt1"/>
              </a:highlight>
            </a:endParaRPr>
          </a:p>
        </p:txBody>
      </p:sp>
      <p:pic>
        <p:nvPicPr>
          <p:cNvPr id="219" name="Google Shape;219;p20"/>
          <p:cNvPicPr preferRelativeResize="0"/>
          <p:nvPr/>
        </p:nvPicPr>
        <p:blipFill>
          <a:blip r:embed="rId12">
            <a:alphaModFix/>
          </a:blip>
          <a:stretch>
            <a:fillRect/>
          </a:stretch>
        </p:blipFill>
        <p:spPr>
          <a:xfrm>
            <a:off x="8279300" y="4570487"/>
            <a:ext cx="305000" cy="269872"/>
          </a:xfrm>
          <a:prstGeom prst="rect">
            <a:avLst/>
          </a:prstGeom>
          <a:noFill/>
          <a:ln>
            <a:noFill/>
          </a:ln>
        </p:spPr>
      </p:pic>
      <p:pic>
        <p:nvPicPr>
          <p:cNvPr id="220" name="Google Shape;220;p20"/>
          <p:cNvPicPr preferRelativeResize="0"/>
          <p:nvPr/>
        </p:nvPicPr>
        <p:blipFill>
          <a:blip r:embed="rId10">
            <a:alphaModFix/>
          </a:blip>
          <a:stretch>
            <a:fillRect/>
          </a:stretch>
        </p:blipFill>
        <p:spPr>
          <a:xfrm>
            <a:off x="8225788" y="4801912"/>
            <a:ext cx="344700" cy="319895"/>
          </a:xfrm>
          <a:prstGeom prst="rect">
            <a:avLst/>
          </a:prstGeom>
          <a:noFill/>
          <a:ln>
            <a:noFill/>
          </a:ln>
        </p:spPr>
      </p:pic>
      <p:pic>
        <p:nvPicPr>
          <p:cNvPr id="221" name="Google Shape;221;p20"/>
          <p:cNvPicPr preferRelativeResize="0"/>
          <p:nvPr/>
        </p:nvPicPr>
        <p:blipFill rotWithShape="1">
          <a:blip r:embed="rId13">
            <a:alphaModFix/>
          </a:blip>
          <a:srcRect b="0" l="0" r="0" t="18207"/>
          <a:stretch/>
        </p:blipFill>
        <p:spPr>
          <a:xfrm>
            <a:off x="6807213" y="4586074"/>
            <a:ext cx="363100" cy="262800"/>
          </a:xfrm>
          <a:prstGeom prst="rect">
            <a:avLst/>
          </a:prstGeom>
          <a:noFill/>
          <a:ln>
            <a:noFill/>
          </a:ln>
        </p:spPr>
      </p:pic>
      <p:pic>
        <p:nvPicPr>
          <p:cNvPr id="222" name="Google Shape;222;p20"/>
          <p:cNvPicPr preferRelativeResize="0"/>
          <p:nvPr/>
        </p:nvPicPr>
        <p:blipFill>
          <a:blip r:embed="rId10">
            <a:alphaModFix/>
          </a:blip>
          <a:stretch>
            <a:fillRect/>
          </a:stretch>
        </p:blipFill>
        <p:spPr>
          <a:xfrm>
            <a:off x="6789650" y="4776687"/>
            <a:ext cx="344700" cy="319895"/>
          </a:xfrm>
          <a:prstGeom prst="rect">
            <a:avLst/>
          </a:prstGeom>
          <a:noFill/>
          <a:ln>
            <a:noFill/>
          </a:ln>
        </p:spPr>
      </p:pic>
      <p:pic>
        <p:nvPicPr>
          <p:cNvPr id="223" name="Google Shape;223;p20"/>
          <p:cNvPicPr preferRelativeResize="0"/>
          <p:nvPr/>
        </p:nvPicPr>
        <p:blipFill>
          <a:blip r:embed="rId14">
            <a:alphaModFix/>
          </a:blip>
          <a:stretch>
            <a:fillRect/>
          </a:stretch>
        </p:blipFill>
        <p:spPr>
          <a:xfrm>
            <a:off x="5308525" y="4574750"/>
            <a:ext cx="771000" cy="285460"/>
          </a:xfrm>
          <a:prstGeom prst="rect">
            <a:avLst/>
          </a:prstGeom>
          <a:noFill/>
          <a:ln>
            <a:noFill/>
          </a:ln>
        </p:spPr>
      </p:pic>
      <p:pic>
        <p:nvPicPr>
          <p:cNvPr id="224" name="Google Shape;224;p20"/>
          <p:cNvPicPr preferRelativeResize="0"/>
          <p:nvPr/>
        </p:nvPicPr>
        <p:blipFill>
          <a:blip r:embed="rId11">
            <a:alphaModFix/>
          </a:blip>
          <a:stretch>
            <a:fillRect/>
          </a:stretch>
        </p:blipFill>
        <p:spPr>
          <a:xfrm>
            <a:off x="5435437" y="4830450"/>
            <a:ext cx="262800" cy="262800"/>
          </a:xfrm>
          <a:prstGeom prst="rect">
            <a:avLst/>
          </a:prstGeom>
          <a:noFill/>
          <a:ln>
            <a:noFill/>
          </a:ln>
        </p:spPr>
      </p:pic>
      <p:pic>
        <p:nvPicPr>
          <p:cNvPr id="225" name="Google Shape;225;p20"/>
          <p:cNvPicPr preferRelativeResize="0"/>
          <p:nvPr/>
        </p:nvPicPr>
        <p:blipFill>
          <a:blip r:embed="rId11">
            <a:alphaModFix/>
          </a:blip>
          <a:stretch>
            <a:fillRect/>
          </a:stretch>
        </p:blipFill>
        <p:spPr>
          <a:xfrm>
            <a:off x="5698225" y="4830450"/>
            <a:ext cx="262800" cy="262800"/>
          </a:xfrm>
          <a:prstGeom prst="rect">
            <a:avLst/>
          </a:prstGeom>
          <a:noFill/>
          <a:ln>
            <a:noFill/>
          </a:ln>
        </p:spPr>
      </p:pic>
      <p:sp>
        <p:nvSpPr>
          <p:cNvPr id="226" name="Google Shape;226;p20"/>
          <p:cNvSpPr/>
          <p:nvPr/>
        </p:nvSpPr>
        <p:spPr>
          <a:xfrm>
            <a:off x="5494225" y="231657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27" name="Google Shape;227;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1"/>
          <p:cNvPicPr preferRelativeResize="0"/>
          <p:nvPr/>
        </p:nvPicPr>
        <p:blipFill>
          <a:blip r:embed="rId3">
            <a:alphaModFix/>
          </a:blip>
          <a:stretch>
            <a:fillRect/>
          </a:stretch>
        </p:blipFill>
        <p:spPr>
          <a:xfrm>
            <a:off x="8535425" y="2476974"/>
            <a:ext cx="344700" cy="305012"/>
          </a:xfrm>
          <a:prstGeom prst="rect">
            <a:avLst/>
          </a:prstGeom>
          <a:noFill/>
          <a:ln>
            <a:noFill/>
          </a:ln>
        </p:spPr>
      </p:pic>
      <p:pic>
        <p:nvPicPr>
          <p:cNvPr id="233" name="Google Shape;233;p21"/>
          <p:cNvPicPr preferRelativeResize="0"/>
          <p:nvPr/>
        </p:nvPicPr>
        <p:blipFill>
          <a:blip r:embed="rId4">
            <a:alphaModFix/>
          </a:blip>
          <a:stretch>
            <a:fillRect/>
          </a:stretch>
        </p:blipFill>
        <p:spPr>
          <a:xfrm>
            <a:off x="7072375" y="874863"/>
            <a:ext cx="1978143" cy="670900"/>
          </a:xfrm>
          <a:prstGeom prst="rect">
            <a:avLst/>
          </a:prstGeom>
          <a:noFill/>
          <a:ln>
            <a:noFill/>
          </a:ln>
        </p:spPr>
      </p:pic>
      <p:pic>
        <p:nvPicPr>
          <p:cNvPr id="234" name="Google Shape;234;p21"/>
          <p:cNvPicPr preferRelativeResize="0"/>
          <p:nvPr/>
        </p:nvPicPr>
        <p:blipFill>
          <a:blip r:embed="rId5">
            <a:alphaModFix/>
          </a:blip>
          <a:stretch>
            <a:fillRect/>
          </a:stretch>
        </p:blipFill>
        <p:spPr>
          <a:xfrm>
            <a:off x="819000" y="1674675"/>
            <a:ext cx="1719301" cy="802302"/>
          </a:xfrm>
          <a:prstGeom prst="rect">
            <a:avLst/>
          </a:prstGeom>
          <a:noFill/>
          <a:ln>
            <a:noFill/>
          </a:ln>
        </p:spPr>
      </p:pic>
      <p:sp>
        <p:nvSpPr>
          <p:cNvPr id="235" name="Google Shape;235;p21"/>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IMU Modelling - Propagation</a:t>
            </a:r>
            <a:endParaRPr/>
          </a:p>
          <a:p>
            <a:pPr indent="0" lvl="0" marL="0" rtl="0" algn="l">
              <a:spcBef>
                <a:spcPts val="0"/>
              </a:spcBef>
              <a:spcAft>
                <a:spcPts val="0"/>
              </a:spcAft>
              <a:buNone/>
            </a:pPr>
            <a:r>
              <a:t/>
            </a:r>
            <a:endParaRPr/>
          </a:p>
        </p:txBody>
      </p:sp>
      <p:pic>
        <p:nvPicPr>
          <p:cNvPr id="236" name="Google Shape;236;p21"/>
          <p:cNvPicPr preferRelativeResize="0"/>
          <p:nvPr/>
        </p:nvPicPr>
        <p:blipFill>
          <a:blip r:embed="rId6">
            <a:alphaModFix/>
          </a:blip>
          <a:stretch>
            <a:fillRect/>
          </a:stretch>
        </p:blipFill>
        <p:spPr>
          <a:xfrm>
            <a:off x="0" y="3033650"/>
            <a:ext cx="3792151" cy="2109851"/>
          </a:xfrm>
          <a:prstGeom prst="rect">
            <a:avLst/>
          </a:prstGeom>
          <a:noFill/>
          <a:ln>
            <a:noFill/>
          </a:ln>
        </p:spPr>
      </p:pic>
      <p:pic>
        <p:nvPicPr>
          <p:cNvPr id="237" name="Google Shape;237;p21"/>
          <p:cNvPicPr preferRelativeResize="0"/>
          <p:nvPr/>
        </p:nvPicPr>
        <p:blipFill>
          <a:blip r:embed="rId7">
            <a:alphaModFix/>
          </a:blip>
          <a:stretch>
            <a:fillRect/>
          </a:stretch>
        </p:blipFill>
        <p:spPr>
          <a:xfrm>
            <a:off x="2857800" y="2239188"/>
            <a:ext cx="4981726" cy="617825"/>
          </a:xfrm>
          <a:prstGeom prst="rect">
            <a:avLst/>
          </a:prstGeom>
          <a:noFill/>
          <a:ln>
            <a:noFill/>
          </a:ln>
        </p:spPr>
      </p:pic>
      <p:pic>
        <p:nvPicPr>
          <p:cNvPr id="238" name="Google Shape;238;p21"/>
          <p:cNvPicPr preferRelativeResize="0"/>
          <p:nvPr/>
        </p:nvPicPr>
        <p:blipFill>
          <a:blip r:embed="rId8">
            <a:alphaModFix/>
          </a:blip>
          <a:stretch>
            <a:fillRect/>
          </a:stretch>
        </p:blipFill>
        <p:spPr>
          <a:xfrm>
            <a:off x="1040250" y="982825"/>
            <a:ext cx="1817551" cy="480400"/>
          </a:xfrm>
          <a:prstGeom prst="rect">
            <a:avLst/>
          </a:prstGeom>
          <a:noFill/>
          <a:ln>
            <a:noFill/>
          </a:ln>
        </p:spPr>
      </p:pic>
      <p:pic>
        <p:nvPicPr>
          <p:cNvPr id="239" name="Google Shape;239;p21"/>
          <p:cNvPicPr preferRelativeResize="0"/>
          <p:nvPr/>
        </p:nvPicPr>
        <p:blipFill>
          <a:blip r:embed="rId9">
            <a:alphaModFix/>
          </a:blip>
          <a:stretch>
            <a:fillRect/>
          </a:stretch>
        </p:blipFill>
        <p:spPr>
          <a:xfrm>
            <a:off x="4014800" y="846562"/>
            <a:ext cx="1482400" cy="517075"/>
          </a:xfrm>
          <a:prstGeom prst="rect">
            <a:avLst/>
          </a:prstGeom>
          <a:noFill/>
          <a:ln>
            <a:noFill/>
          </a:ln>
        </p:spPr>
      </p:pic>
      <p:sp>
        <p:nvSpPr>
          <p:cNvPr id="240" name="Google Shape;240;p21"/>
          <p:cNvSpPr/>
          <p:nvPr/>
        </p:nvSpPr>
        <p:spPr>
          <a:xfrm>
            <a:off x="5288950" y="1318675"/>
            <a:ext cx="653167" cy="997908"/>
          </a:xfrm>
          <a:custGeom>
            <a:rect b="b" l="l" r="r" t="t"/>
            <a:pathLst>
              <a:path extrusionOk="0" h="29755" w="22860">
                <a:moveTo>
                  <a:pt x="22860" y="29755"/>
                </a:moveTo>
                <a:cubicBezTo>
                  <a:pt x="22134" y="27759"/>
                  <a:pt x="21046" y="21651"/>
                  <a:pt x="18506" y="17780"/>
                </a:cubicBezTo>
                <a:cubicBezTo>
                  <a:pt x="15966" y="13910"/>
                  <a:pt x="10704" y="9495"/>
                  <a:pt x="7620" y="6532"/>
                </a:cubicBezTo>
                <a:cubicBezTo>
                  <a:pt x="4536" y="3569"/>
                  <a:pt x="1270" y="1089"/>
                  <a:pt x="0" y="0"/>
                </a:cubicBezTo>
              </a:path>
            </a:pathLst>
          </a:custGeom>
          <a:noFill/>
          <a:ln cap="flat" cmpd="sng" w="28575">
            <a:solidFill>
              <a:schemeClr val="dk2"/>
            </a:solidFill>
            <a:prstDash val="solid"/>
            <a:round/>
            <a:headEnd len="med" w="med" type="none"/>
            <a:tailEnd len="med" w="med" type="stealth"/>
          </a:ln>
        </p:spPr>
      </p:sp>
      <p:sp>
        <p:nvSpPr>
          <p:cNvPr id="241" name="Google Shape;241;p21"/>
          <p:cNvSpPr/>
          <p:nvPr/>
        </p:nvSpPr>
        <p:spPr>
          <a:xfrm>
            <a:off x="2222800" y="719976"/>
            <a:ext cx="1868761" cy="262850"/>
          </a:xfrm>
          <a:custGeom>
            <a:rect b="b" l="l" r="r" t="t"/>
            <a:pathLst>
              <a:path extrusionOk="0" h="8557" w="75475">
                <a:moveTo>
                  <a:pt x="75475" y="4928"/>
                </a:moveTo>
                <a:cubicBezTo>
                  <a:pt x="70576" y="4202"/>
                  <a:pt x="56243" y="1239"/>
                  <a:pt x="46083" y="574"/>
                </a:cubicBezTo>
                <a:cubicBezTo>
                  <a:pt x="35923" y="-91"/>
                  <a:pt x="22196" y="-393"/>
                  <a:pt x="14515" y="937"/>
                </a:cubicBezTo>
                <a:cubicBezTo>
                  <a:pt x="6835" y="2268"/>
                  <a:pt x="2419" y="7287"/>
                  <a:pt x="0" y="8557"/>
                </a:cubicBezTo>
              </a:path>
            </a:pathLst>
          </a:custGeom>
          <a:noFill/>
          <a:ln cap="flat" cmpd="sng" w="28575">
            <a:solidFill>
              <a:schemeClr val="dk2"/>
            </a:solidFill>
            <a:prstDash val="solid"/>
            <a:round/>
            <a:headEnd len="med" w="med" type="none"/>
            <a:tailEnd len="med" w="med" type="stealth"/>
          </a:ln>
        </p:spPr>
      </p:sp>
      <p:sp>
        <p:nvSpPr>
          <p:cNvPr id="242" name="Google Shape;242;p21"/>
          <p:cNvSpPr/>
          <p:nvPr/>
        </p:nvSpPr>
        <p:spPr>
          <a:xfrm>
            <a:off x="501610" y="1162325"/>
            <a:ext cx="513000" cy="670900"/>
          </a:xfrm>
          <a:custGeom>
            <a:rect b="b" l="l" r="r" t="t"/>
            <a:pathLst>
              <a:path extrusionOk="0" h="26836" w="20520">
                <a:moveTo>
                  <a:pt x="20521" y="0"/>
                </a:moveTo>
                <a:cubicBezTo>
                  <a:pt x="17153" y="1325"/>
                  <a:pt x="2244" y="3478"/>
                  <a:pt x="311" y="7951"/>
                </a:cubicBezTo>
                <a:cubicBezTo>
                  <a:pt x="-1622" y="12424"/>
                  <a:pt x="7489" y="23689"/>
                  <a:pt x="8925" y="26836"/>
                </a:cubicBezTo>
              </a:path>
            </a:pathLst>
          </a:custGeom>
          <a:noFill/>
          <a:ln cap="flat" cmpd="sng" w="28575">
            <a:solidFill>
              <a:schemeClr val="dk2"/>
            </a:solidFill>
            <a:prstDash val="solid"/>
            <a:round/>
            <a:headEnd len="med" w="med" type="none"/>
            <a:tailEnd len="med" w="med" type="stealth"/>
          </a:ln>
        </p:spPr>
      </p:sp>
      <p:sp>
        <p:nvSpPr>
          <p:cNvPr id="243" name="Google Shape;243;p21"/>
          <p:cNvSpPr/>
          <p:nvPr/>
        </p:nvSpPr>
        <p:spPr>
          <a:xfrm>
            <a:off x="2787100" y="2040275"/>
            <a:ext cx="1482432" cy="262864"/>
          </a:xfrm>
          <a:custGeom>
            <a:rect b="b" l="l" r="r" t="t"/>
            <a:pathLst>
              <a:path extrusionOk="0" h="12259" w="49696">
                <a:moveTo>
                  <a:pt x="0" y="0"/>
                </a:moveTo>
                <a:cubicBezTo>
                  <a:pt x="4804" y="331"/>
                  <a:pt x="20540" y="-55"/>
                  <a:pt x="28823" y="1988"/>
                </a:cubicBezTo>
                <a:cubicBezTo>
                  <a:pt x="37106" y="4031"/>
                  <a:pt x="46217" y="10547"/>
                  <a:pt x="49696" y="12259"/>
                </a:cubicBezTo>
              </a:path>
            </a:pathLst>
          </a:custGeom>
          <a:noFill/>
          <a:ln cap="flat" cmpd="sng" w="28575">
            <a:solidFill>
              <a:schemeClr val="dk2"/>
            </a:solidFill>
            <a:prstDash val="solid"/>
            <a:round/>
            <a:headEnd len="med" w="med" type="none"/>
            <a:tailEnd len="med" w="med" type="stealth"/>
          </a:ln>
        </p:spPr>
      </p:sp>
      <p:sp>
        <p:nvSpPr>
          <p:cNvPr id="244" name="Google Shape;244;p21"/>
          <p:cNvSpPr/>
          <p:nvPr/>
        </p:nvSpPr>
        <p:spPr>
          <a:xfrm>
            <a:off x="819000" y="1678075"/>
            <a:ext cx="344700" cy="2628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5" name="Google Shape;245;p21"/>
          <p:cNvSpPr/>
          <p:nvPr/>
        </p:nvSpPr>
        <p:spPr>
          <a:xfrm>
            <a:off x="7110475" y="1264113"/>
            <a:ext cx="474900" cy="321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6" name="Google Shape;246;p21"/>
          <p:cNvSpPr/>
          <p:nvPr/>
        </p:nvSpPr>
        <p:spPr>
          <a:xfrm>
            <a:off x="819000" y="1953775"/>
            <a:ext cx="344700" cy="480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7" name="Google Shape;247;p21"/>
          <p:cNvSpPr/>
          <p:nvPr/>
        </p:nvSpPr>
        <p:spPr>
          <a:xfrm>
            <a:off x="7110625" y="860638"/>
            <a:ext cx="4749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8" name="Google Shape;248;p21"/>
          <p:cNvSpPr/>
          <p:nvPr/>
        </p:nvSpPr>
        <p:spPr>
          <a:xfrm>
            <a:off x="6344325" y="233097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9" name="Google Shape;249;p21"/>
          <p:cNvSpPr/>
          <p:nvPr/>
        </p:nvSpPr>
        <p:spPr>
          <a:xfrm>
            <a:off x="7037550" y="231657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50" name="Google Shape;250;p21"/>
          <p:cNvSpPr/>
          <p:nvPr/>
        </p:nvSpPr>
        <p:spPr>
          <a:xfrm>
            <a:off x="3707625" y="2330975"/>
            <a:ext cx="5619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51" name="Google Shape;251;p21"/>
          <p:cNvSpPr/>
          <p:nvPr/>
        </p:nvSpPr>
        <p:spPr>
          <a:xfrm>
            <a:off x="4318025" y="2331600"/>
            <a:ext cx="10971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52" name="Google Shape;252;p21"/>
          <p:cNvSpPr txBox="1"/>
          <p:nvPr/>
        </p:nvSpPr>
        <p:spPr>
          <a:xfrm>
            <a:off x="5613475" y="2637250"/>
            <a:ext cx="77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Bias</a:t>
            </a:r>
            <a:endParaRPr sz="1600">
              <a:solidFill>
                <a:schemeClr val="dk1"/>
              </a:solidFill>
            </a:endParaRPr>
          </a:p>
        </p:txBody>
      </p:sp>
      <p:sp>
        <p:nvSpPr>
          <p:cNvPr id="253" name="Google Shape;253;p21"/>
          <p:cNvSpPr txBox="1"/>
          <p:nvPr/>
        </p:nvSpPr>
        <p:spPr>
          <a:xfrm>
            <a:off x="6513200" y="2637250"/>
            <a:ext cx="118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Car/IMU</a:t>
            </a:r>
            <a:endParaRPr sz="1600">
              <a:solidFill>
                <a:schemeClr val="dk1"/>
              </a:solidFill>
            </a:endParaRPr>
          </a:p>
        </p:txBody>
      </p:sp>
      <p:sp>
        <p:nvSpPr>
          <p:cNvPr id="254" name="Google Shape;254;p21"/>
          <p:cNvSpPr txBox="1"/>
          <p:nvPr/>
        </p:nvSpPr>
        <p:spPr>
          <a:xfrm>
            <a:off x="3848650" y="2637250"/>
            <a:ext cx="1267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IMU/Global</a:t>
            </a:r>
            <a:endParaRPr sz="1600">
              <a:solidFill>
                <a:schemeClr val="dk1"/>
              </a:solidFill>
            </a:endParaRPr>
          </a:p>
        </p:txBody>
      </p:sp>
      <p:sp>
        <p:nvSpPr>
          <p:cNvPr id="255" name="Google Shape;255;p21"/>
          <p:cNvSpPr/>
          <p:nvPr/>
        </p:nvSpPr>
        <p:spPr>
          <a:xfrm>
            <a:off x="8351050" y="1930850"/>
            <a:ext cx="7710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highlight>
                  <a:schemeClr val="lt1"/>
                </a:highlight>
              </a:rPr>
              <a:t>SO(3)</a:t>
            </a:r>
            <a:endParaRPr>
              <a:highlight>
                <a:schemeClr val="lt1"/>
              </a:highlight>
            </a:endParaRPr>
          </a:p>
        </p:txBody>
      </p:sp>
      <p:sp>
        <p:nvSpPr>
          <p:cNvPr id="256" name="Google Shape;256;p21"/>
          <p:cNvSpPr/>
          <p:nvPr/>
        </p:nvSpPr>
        <p:spPr>
          <a:xfrm>
            <a:off x="8322875" y="2485125"/>
            <a:ext cx="771000" cy="3051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pic>
        <p:nvPicPr>
          <p:cNvPr id="257" name="Google Shape;257;p21"/>
          <p:cNvPicPr preferRelativeResize="0"/>
          <p:nvPr/>
        </p:nvPicPr>
        <p:blipFill>
          <a:blip r:embed="rId10">
            <a:alphaModFix/>
          </a:blip>
          <a:stretch>
            <a:fillRect/>
          </a:stretch>
        </p:blipFill>
        <p:spPr>
          <a:xfrm>
            <a:off x="7944763" y="2477725"/>
            <a:ext cx="344700" cy="319895"/>
          </a:xfrm>
          <a:prstGeom prst="rect">
            <a:avLst/>
          </a:prstGeom>
          <a:noFill/>
          <a:ln>
            <a:noFill/>
          </a:ln>
        </p:spPr>
      </p:pic>
      <p:pic>
        <p:nvPicPr>
          <p:cNvPr id="258" name="Google Shape;258;p21"/>
          <p:cNvPicPr preferRelativeResize="0"/>
          <p:nvPr/>
        </p:nvPicPr>
        <p:blipFill>
          <a:blip r:embed="rId11">
            <a:alphaModFix/>
          </a:blip>
          <a:stretch>
            <a:fillRect/>
          </a:stretch>
        </p:blipFill>
        <p:spPr>
          <a:xfrm>
            <a:off x="7964625" y="1939000"/>
            <a:ext cx="305000" cy="305000"/>
          </a:xfrm>
          <a:prstGeom prst="rect">
            <a:avLst/>
          </a:prstGeom>
          <a:noFill/>
          <a:ln>
            <a:noFill/>
          </a:ln>
        </p:spPr>
      </p:pic>
      <p:sp>
        <p:nvSpPr>
          <p:cNvPr id="259" name="Google Shape;259;p21"/>
          <p:cNvSpPr txBox="1"/>
          <p:nvPr/>
        </p:nvSpPr>
        <p:spPr>
          <a:xfrm>
            <a:off x="5047525" y="3427213"/>
            <a:ext cx="2965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Affine Group Theory</a:t>
            </a:r>
            <a:endParaRPr sz="2100">
              <a:solidFill>
                <a:schemeClr val="dk1"/>
              </a:solidFill>
            </a:endParaRPr>
          </a:p>
        </p:txBody>
      </p:sp>
      <p:sp>
        <p:nvSpPr>
          <p:cNvPr id="260" name="Google Shape;260;p21"/>
          <p:cNvSpPr/>
          <p:nvPr/>
        </p:nvSpPr>
        <p:spPr>
          <a:xfrm>
            <a:off x="6875228" y="1264125"/>
            <a:ext cx="197155" cy="1067515"/>
          </a:xfrm>
          <a:custGeom>
            <a:rect b="b" l="l" r="r" t="t"/>
            <a:pathLst>
              <a:path extrusionOk="0" h="40257" w="10731">
                <a:moveTo>
                  <a:pt x="5341" y="40257"/>
                </a:moveTo>
                <a:cubicBezTo>
                  <a:pt x="4472" y="37382"/>
                  <a:pt x="-769" y="29714"/>
                  <a:pt x="129" y="23004"/>
                </a:cubicBezTo>
                <a:cubicBezTo>
                  <a:pt x="1028" y="16295"/>
                  <a:pt x="8965" y="3834"/>
                  <a:pt x="10732" y="0"/>
                </a:cubicBezTo>
              </a:path>
            </a:pathLst>
          </a:custGeom>
          <a:noFill/>
          <a:ln cap="flat" cmpd="sng" w="28575">
            <a:solidFill>
              <a:schemeClr val="dk2"/>
            </a:solidFill>
            <a:prstDash val="solid"/>
            <a:round/>
            <a:headEnd len="med" w="med" type="none"/>
            <a:tailEnd len="med" w="med" type="stealth"/>
          </a:ln>
        </p:spPr>
      </p:sp>
      <p:pic>
        <p:nvPicPr>
          <p:cNvPr id="261" name="Google Shape;261;p21"/>
          <p:cNvPicPr preferRelativeResize="0"/>
          <p:nvPr/>
        </p:nvPicPr>
        <p:blipFill>
          <a:blip r:embed="rId7">
            <a:alphaModFix/>
          </a:blip>
          <a:stretch>
            <a:fillRect/>
          </a:stretch>
        </p:blipFill>
        <p:spPr>
          <a:xfrm>
            <a:off x="3961900" y="4101338"/>
            <a:ext cx="4981726" cy="617825"/>
          </a:xfrm>
          <a:prstGeom prst="rect">
            <a:avLst/>
          </a:prstGeom>
          <a:noFill/>
          <a:ln>
            <a:noFill/>
          </a:ln>
        </p:spPr>
      </p:pic>
      <p:sp>
        <p:nvSpPr>
          <p:cNvPr id="262" name="Google Shape;262;p21"/>
          <p:cNvSpPr/>
          <p:nvPr/>
        </p:nvSpPr>
        <p:spPr>
          <a:xfrm>
            <a:off x="6598325" y="417872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63" name="Google Shape;263;p21"/>
          <p:cNvSpPr/>
          <p:nvPr/>
        </p:nvSpPr>
        <p:spPr>
          <a:xfrm>
            <a:off x="7448425" y="419312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64" name="Google Shape;264;p21"/>
          <p:cNvSpPr/>
          <p:nvPr/>
        </p:nvSpPr>
        <p:spPr>
          <a:xfrm>
            <a:off x="8141650" y="417872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65" name="Google Shape;265;p21"/>
          <p:cNvSpPr/>
          <p:nvPr/>
        </p:nvSpPr>
        <p:spPr>
          <a:xfrm>
            <a:off x="4799925" y="4193750"/>
            <a:ext cx="1719300" cy="381000"/>
          </a:xfrm>
          <a:prstGeom prst="roundRect">
            <a:avLst>
              <a:gd fmla="val 16667" name="adj"/>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1"/>
              </a:highlight>
            </a:endParaRPr>
          </a:p>
        </p:txBody>
      </p:sp>
      <p:pic>
        <p:nvPicPr>
          <p:cNvPr id="266" name="Google Shape;266;p21"/>
          <p:cNvPicPr preferRelativeResize="0"/>
          <p:nvPr/>
        </p:nvPicPr>
        <p:blipFill>
          <a:blip r:embed="rId11">
            <a:alphaModFix/>
          </a:blip>
          <a:stretch>
            <a:fillRect/>
          </a:stretch>
        </p:blipFill>
        <p:spPr>
          <a:xfrm>
            <a:off x="7659325" y="4830450"/>
            <a:ext cx="262800" cy="262800"/>
          </a:xfrm>
          <a:prstGeom prst="rect">
            <a:avLst/>
          </a:prstGeom>
          <a:noFill/>
          <a:ln>
            <a:noFill/>
          </a:ln>
        </p:spPr>
      </p:pic>
      <p:sp>
        <p:nvSpPr>
          <p:cNvPr id="267" name="Google Shape;267;p21"/>
          <p:cNvSpPr txBox="1"/>
          <p:nvPr/>
        </p:nvSpPr>
        <p:spPr>
          <a:xfrm>
            <a:off x="7448425" y="4505325"/>
            <a:ext cx="684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highlight>
                  <a:schemeClr val="lt1"/>
                </a:highlight>
              </a:rPr>
              <a:t>SO(3)</a:t>
            </a:r>
            <a:endParaRPr>
              <a:solidFill>
                <a:schemeClr val="dk1"/>
              </a:solidFill>
              <a:highlight>
                <a:schemeClr val="lt1"/>
              </a:highlight>
            </a:endParaRPr>
          </a:p>
        </p:txBody>
      </p:sp>
      <p:pic>
        <p:nvPicPr>
          <p:cNvPr id="268" name="Google Shape;268;p21"/>
          <p:cNvPicPr preferRelativeResize="0"/>
          <p:nvPr/>
        </p:nvPicPr>
        <p:blipFill>
          <a:blip r:embed="rId12">
            <a:alphaModFix/>
          </a:blip>
          <a:stretch>
            <a:fillRect/>
          </a:stretch>
        </p:blipFill>
        <p:spPr>
          <a:xfrm>
            <a:off x="8279300" y="4570487"/>
            <a:ext cx="305000" cy="269872"/>
          </a:xfrm>
          <a:prstGeom prst="rect">
            <a:avLst/>
          </a:prstGeom>
          <a:noFill/>
          <a:ln>
            <a:noFill/>
          </a:ln>
        </p:spPr>
      </p:pic>
      <p:pic>
        <p:nvPicPr>
          <p:cNvPr id="269" name="Google Shape;269;p21"/>
          <p:cNvPicPr preferRelativeResize="0"/>
          <p:nvPr/>
        </p:nvPicPr>
        <p:blipFill>
          <a:blip r:embed="rId10">
            <a:alphaModFix/>
          </a:blip>
          <a:stretch>
            <a:fillRect/>
          </a:stretch>
        </p:blipFill>
        <p:spPr>
          <a:xfrm>
            <a:off x="8225788" y="4801912"/>
            <a:ext cx="344700" cy="319895"/>
          </a:xfrm>
          <a:prstGeom prst="rect">
            <a:avLst/>
          </a:prstGeom>
          <a:noFill/>
          <a:ln>
            <a:noFill/>
          </a:ln>
        </p:spPr>
      </p:pic>
      <p:pic>
        <p:nvPicPr>
          <p:cNvPr id="270" name="Google Shape;270;p21"/>
          <p:cNvPicPr preferRelativeResize="0"/>
          <p:nvPr/>
        </p:nvPicPr>
        <p:blipFill rotWithShape="1">
          <a:blip r:embed="rId13">
            <a:alphaModFix/>
          </a:blip>
          <a:srcRect b="0" l="0" r="0" t="18207"/>
          <a:stretch/>
        </p:blipFill>
        <p:spPr>
          <a:xfrm>
            <a:off x="6807213" y="4586074"/>
            <a:ext cx="363100" cy="262800"/>
          </a:xfrm>
          <a:prstGeom prst="rect">
            <a:avLst/>
          </a:prstGeom>
          <a:noFill/>
          <a:ln>
            <a:noFill/>
          </a:ln>
        </p:spPr>
      </p:pic>
      <p:pic>
        <p:nvPicPr>
          <p:cNvPr id="271" name="Google Shape;271;p21"/>
          <p:cNvPicPr preferRelativeResize="0"/>
          <p:nvPr/>
        </p:nvPicPr>
        <p:blipFill>
          <a:blip r:embed="rId10">
            <a:alphaModFix/>
          </a:blip>
          <a:stretch>
            <a:fillRect/>
          </a:stretch>
        </p:blipFill>
        <p:spPr>
          <a:xfrm>
            <a:off x="6789650" y="4776687"/>
            <a:ext cx="344700" cy="319895"/>
          </a:xfrm>
          <a:prstGeom prst="rect">
            <a:avLst/>
          </a:prstGeom>
          <a:noFill/>
          <a:ln>
            <a:noFill/>
          </a:ln>
        </p:spPr>
      </p:pic>
      <p:pic>
        <p:nvPicPr>
          <p:cNvPr id="272" name="Google Shape;272;p21"/>
          <p:cNvPicPr preferRelativeResize="0"/>
          <p:nvPr/>
        </p:nvPicPr>
        <p:blipFill>
          <a:blip r:embed="rId14">
            <a:alphaModFix/>
          </a:blip>
          <a:stretch>
            <a:fillRect/>
          </a:stretch>
        </p:blipFill>
        <p:spPr>
          <a:xfrm>
            <a:off x="5308525" y="4574750"/>
            <a:ext cx="771000" cy="285460"/>
          </a:xfrm>
          <a:prstGeom prst="rect">
            <a:avLst/>
          </a:prstGeom>
          <a:noFill/>
          <a:ln>
            <a:noFill/>
          </a:ln>
        </p:spPr>
      </p:pic>
      <p:pic>
        <p:nvPicPr>
          <p:cNvPr id="273" name="Google Shape;273;p21"/>
          <p:cNvPicPr preferRelativeResize="0"/>
          <p:nvPr/>
        </p:nvPicPr>
        <p:blipFill>
          <a:blip r:embed="rId11">
            <a:alphaModFix/>
          </a:blip>
          <a:stretch>
            <a:fillRect/>
          </a:stretch>
        </p:blipFill>
        <p:spPr>
          <a:xfrm>
            <a:off x="5435437" y="4830450"/>
            <a:ext cx="262800" cy="262800"/>
          </a:xfrm>
          <a:prstGeom prst="rect">
            <a:avLst/>
          </a:prstGeom>
          <a:noFill/>
          <a:ln>
            <a:noFill/>
          </a:ln>
        </p:spPr>
      </p:pic>
      <p:pic>
        <p:nvPicPr>
          <p:cNvPr id="274" name="Google Shape;274;p21"/>
          <p:cNvPicPr preferRelativeResize="0"/>
          <p:nvPr/>
        </p:nvPicPr>
        <p:blipFill>
          <a:blip r:embed="rId11">
            <a:alphaModFix/>
          </a:blip>
          <a:stretch>
            <a:fillRect/>
          </a:stretch>
        </p:blipFill>
        <p:spPr>
          <a:xfrm>
            <a:off x="5698225" y="4830450"/>
            <a:ext cx="262800" cy="262800"/>
          </a:xfrm>
          <a:prstGeom prst="rect">
            <a:avLst/>
          </a:prstGeom>
          <a:noFill/>
          <a:ln>
            <a:noFill/>
          </a:ln>
        </p:spPr>
      </p:pic>
      <p:sp>
        <p:nvSpPr>
          <p:cNvPr id="275" name="Google Shape;275;p21"/>
          <p:cNvSpPr/>
          <p:nvPr/>
        </p:nvSpPr>
        <p:spPr>
          <a:xfrm>
            <a:off x="5494225" y="231657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pic>
        <p:nvPicPr>
          <p:cNvPr id="276" name="Google Shape;276;p21"/>
          <p:cNvPicPr preferRelativeResize="0"/>
          <p:nvPr/>
        </p:nvPicPr>
        <p:blipFill rotWithShape="1">
          <a:blip r:embed="rId15">
            <a:alphaModFix/>
          </a:blip>
          <a:srcRect b="19458" l="52650" r="6643" t="17770"/>
          <a:stretch/>
        </p:blipFill>
        <p:spPr>
          <a:xfrm>
            <a:off x="7659325" y="3468013"/>
            <a:ext cx="512711" cy="426300"/>
          </a:xfrm>
          <a:prstGeom prst="rect">
            <a:avLst/>
          </a:prstGeom>
          <a:noFill/>
          <a:ln>
            <a:noFill/>
          </a:ln>
        </p:spPr>
      </p:pic>
      <p:sp>
        <p:nvSpPr>
          <p:cNvPr id="277" name="Google Shape;27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2"/>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IMU Modelling - Pseudo Measurement</a:t>
            </a:r>
            <a:endParaRPr/>
          </a:p>
          <a:p>
            <a:pPr indent="0" lvl="0" marL="0" rtl="0" algn="l">
              <a:spcBef>
                <a:spcPts val="0"/>
              </a:spcBef>
              <a:spcAft>
                <a:spcPts val="0"/>
              </a:spcAft>
              <a:buNone/>
            </a:pPr>
            <a:r>
              <a:t/>
            </a:r>
            <a:endParaRPr/>
          </a:p>
        </p:txBody>
      </p:sp>
      <p:pic>
        <p:nvPicPr>
          <p:cNvPr id="283" name="Google Shape;283;p22"/>
          <p:cNvPicPr preferRelativeResize="0"/>
          <p:nvPr/>
        </p:nvPicPr>
        <p:blipFill>
          <a:blip r:embed="rId3">
            <a:alphaModFix/>
          </a:blip>
          <a:stretch>
            <a:fillRect/>
          </a:stretch>
        </p:blipFill>
        <p:spPr>
          <a:xfrm>
            <a:off x="17763" y="3263400"/>
            <a:ext cx="3682170" cy="1751850"/>
          </a:xfrm>
          <a:prstGeom prst="rect">
            <a:avLst/>
          </a:prstGeom>
          <a:noFill/>
          <a:ln>
            <a:noFill/>
          </a:ln>
        </p:spPr>
      </p:pic>
      <p:cxnSp>
        <p:nvCxnSpPr>
          <p:cNvPr id="284" name="Google Shape;284;p22"/>
          <p:cNvCxnSpPr/>
          <p:nvPr/>
        </p:nvCxnSpPr>
        <p:spPr>
          <a:xfrm rot="10800000">
            <a:off x="1854950" y="2807300"/>
            <a:ext cx="7800" cy="1177200"/>
          </a:xfrm>
          <a:prstGeom prst="straightConnector1">
            <a:avLst/>
          </a:prstGeom>
          <a:noFill/>
          <a:ln cap="flat" cmpd="sng" w="38100">
            <a:solidFill>
              <a:srgbClr val="FF0000"/>
            </a:solidFill>
            <a:prstDash val="solid"/>
            <a:round/>
            <a:headEnd len="med" w="med" type="none"/>
            <a:tailEnd len="med" w="med" type="stealth"/>
          </a:ln>
        </p:spPr>
      </p:cxnSp>
      <p:cxnSp>
        <p:nvCxnSpPr>
          <p:cNvPr id="285" name="Google Shape;285;p22"/>
          <p:cNvCxnSpPr/>
          <p:nvPr/>
        </p:nvCxnSpPr>
        <p:spPr>
          <a:xfrm>
            <a:off x="1862750" y="3984500"/>
            <a:ext cx="627300" cy="395100"/>
          </a:xfrm>
          <a:prstGeom prst="straightConnector1">
            <a:avLst/>
          </a:prstGeom>
          <a:noFill/>
          <a:ln cap="flat" cmpd="sng" w="38100">
            <a:solidFill>
              <a:srgbClr val="FF0000"/>
            </a:solidFill>
            <a:prstDash val="solid"/>
            <a:round/>
            <a:headEnd len="med" w="med" type="none"/>
            <a:tailEnd len="med" w="med" type="stealth"/>
          </a:ln>
        </p:spPr>
      </p:cxnSp>
      <p:cxnSp>
        <p:nvCxnSpPr>
          <p:cNvPr id="286" name="Google Shape;286;p22"/>
          <p:cNvCxnSpPr/>
          <p:nvPr/>
        </p:nvCxnSpPr>
        <p:spPr>
          <a:xfrm flipH="1" rot="10800000">
            <a:off x="1862750" y="3845000"/>
            <a:ext cx="929400" cy="139500"/>
          </a:xfrm>
          <a:prstGeom prst="straightConnector1">
            <a:avLst/>
          </a:prstGeom>
          <a:noFill/>
          <a:ln cap="flat" cmpd="sng" w="38100">
            <a:solidFill>
              <a:srgbClr val="00FF00"/>
            </a:solidFill>
            <a:prstDash val="solid"/>
            <a:round/>
            <a:headEnd len="med" w="med" type="none"/>
            <a:tailEnd len="med" w="med" type="stealth"/>
          </a:ln>
        </p:spPr>
      </p:cxnSp>
      <p:pic>
        <p:nvPicPr>
          <p:cNvPr id="287" name="Google Shape;287;p22"/>
          <p:cNvPicPr preferRelativeResize="0"/>
          <p:nvPr/>
        </p:nvPicPr>
        <p:blipFill>
          <a:blip r:embed="rId4">
            <a:alphaModFix/>
          </a:blip>
          <a:stretch>
            <a:fillRect/>
          </a:stretch>
        </p:blipFill>
        <p:spPr>
          <a:xfrm>
            <a:off x="315050" y="699225"/>
            <a:ext cx="5492000" cy="1002300"/>
          </a:xfrm>
          <a:prstGeom prst="rect">
            <a:avLst/>
          </a:prstGeom>
          <a:noFill/>
          <a:ln>
            <a:noFill/>
          </a:ln>
        </p:spPr>
      </p:pic>
      <p:cxnSp>
        <p:nvCxnSpPr>
          <p:cNvPr id="288" name="Google Shape;288;p22"/>
          <p:cNvCxnSpPr/>
          <p:nvPr/>
        </p:nvCxnSpPr>
        <p:spPr>
          <a:xfrm flipH="1" rot="10800000">
            <a:off x="1214900" y="1359425"/>
            <a:ext cx="395100" cy="317400"/>
          </a:xfrm>
          <a:prstGeom prst="straightConnector1">
            <a:avLst/>
          </a:prstGeom>
          <a:noFill/>
          <a:ln cap="flat" cmpd="sng" w="28575">
            <a:solidFill>
              <a:srgbClr val="FF0000"/>
            </a:solidFill>
            <a:prstDash val="solid"/>
            <a:round/>
            <a:headEnd len="med" w="med" type="none"/>
            <a:tailEnd len="med" w="med" type="none"/>
          </a:ln>
        </p:spPr>
      </p:cxnSp>
      <p:cxnSp>
        <p:nvCxnSpPr>
          <p:cNvPr id="289" name="Google Shape;289;p22"/>
          <p:cNvCxnSpPr/>
          <p:nvPr/>
        </p:nvCxnSpPr>
        <p:spPr>
          <a:xfrm flipH="1" rot="10800000">
            <a:off x="1214900" y="1041675"/>
            <a:ext cx="395100" cy="317400"/>
          </a:xfrm>
          <a:prstGeom prst="straightConnector1">
            <a:avLst/>
          </a:prstGeom>
          <a:noFill/>
          <a:ln cap="flat" cmpd="sng" w="28575">
            <a:solidFill>
              <a:srgbClr val="FF0000"/>
            </a:solidFill>
            <a:prstDash val="solid"/>
            <a:round/>
            <a:headEnd len="med" w="med" type="none"/>
            <a:tailEnd len="med" w="med" type="none"/>
          </a:ln>
        </p:spPr>
      </p:cxnSp>
      <p:pic>
        <p:nvPicPr>
          <p:cNvPr id="290" name="Google Shape;290;p22"/>
          <p:cNvPicPr preferRelativeResize="0"/>
          <p:nvPr/>
        </p:nvPicPr>
        <p:blipFill>
          <a:blip r:embed="rId5">
            <a:alphaModFix/>
          </a:blip>
          <a:stretch>
            <a:fillRect/>
          </a:stretch>
        </p:blipFill>
        <p:spPr>
          <a:xfrm>
            <a:off x="3277300" y="1956989"/>
            <a:ext cx="5391159" cy="788475"/>
          </a:xfrm>
          <a:prstGeom prst="rect">
            <a:avLst/>
          </a:prstGeom>
          <a:noFill/>
          <a:ln>
            <a:noFill/>
          </a:ln>
        </p:spPr>
      </p:pic>
      <p:sp>
        <p:nvSpPr>
          <p:cNvPr id="291" name="Google Shape;291;p22"/>
          <p:cNvSpPr/>
          <p:nvPr/>
        </p:nvSpPr>
        <p:spPr>
          <a:xfrm>
            <a:off x="1369775" y="1701525"/>
            <a:ext cx="1907552" cy="741820"/>
          </a:xfrm>
          <a:custGeom>
            <a:rect b="b" l="l" r="r" t="t"/>
            <a:pathLst>
              <a:path extrusionOk="0" h="26329" w="55756">
                <a:moveTo>
                  <a:pt x="0" y="0"/>
                </a:moveTo>
                <a:cubicBezTo>
                  <a:pt x="1239" y="2994"/>
                  <a:pt x="-1859" y="13578"/>
                  <a:pt x="7434" y="17966"/>
                </a:cubicBezTo>
                <a:cubicBezTo>
                  <a:pt x="16727" y="22354"/>
                  <a:pt x="47702" y="24935"/>
                  <a:pt x="55756" y="26329"/>
                </a:cubicBezTo>
              </a:path>
            </a:pathLst>
          </a:custGeom>
          <a:noFill/>
          <a:ln cap="flat" cmpd="sng" w="28575">
            <a:solidFill>
              <a:schemeClr val="dk2"/>
            </a:solidFill>
            <a:prstDash val="solid"/>
            <a:round/>
            <a:headEnd len="med" w="med" type="none"/>
            <a:tailEnd len="med" w="med" type="stealth"/>
          </a:ln>
        </p:spPr>
      </p:sp>
      <p:sp>
        <p:nvSpPr>
          <p:cNvPr id="292" name="Google Shape;292;p22"/>
          <p:cNvSpPr txBox="1"/>
          <p:nvPr/>
        </p:nvSpPr>
        <p:spPr>
          <a:xfrm>
            <a:off x="4698025" y="1589525"/>
            <a:ext cx="254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Measurement Model</a:t>
            </a:r>
            <a:endParaRPr sz="1800">
              <a:solidFill>
                <a:schemeClr val="dk1"/>
              </a:solidFill>
            </a:endParaRPr>
          </a:p>
        </p:txBody>
      </p:sp>
      <p:sp>
        <p:nvSpPr>
          <p:cNvPr id="293" name="Google Shape;293;p22"/>
          <p:cNvSpPr/>
          <p:nvPr/>
        </p:nvSpPr>
        <p:spPr>
          <a:xfrm>
            <a:off x="7835925" y="2582850"/>
            <a:ext cx="674349" cy="906070"/>
          </a:xfrm>
          <a:custGeom>
            <a:rect b="b" l="l" r="r" t="t"/>
            <a:pathLst>
              <a:path extrusionOk="0" h="54207" w="32859">
                <a:moveTo>
                  <a:pt x="32834" y="0"/>
                </a:moveTo>
                <a:cubicBezTo>
                  <a:pt x="32163" y="6247"/>
                  <a:pt x="34279" y="28446"/>
                  <a:pt x="28807" y="37480"/>
                </a:cubicBezTo>
                <a:cubicBezTo>
                  <a:pt x="23335" y="46515"/>
                  <a:pt x="4801" y="51419"/>
                  <a:pt x="0" y="54207"/>
                </a:cubicBezTo>
              </a:path>
            </a:pathLst>
          </a:custGeom>
          <a:noFill/>
          <a:ln cap="flat" cmpd="sng" w="28575">
            <a:solidFill>
              <a:schemeClr val="dk2"/>
            </a:solidFill>
            <a:prstDash val="solid"/>
            <a:round/>
            <a:headEnd len="med" w="med" type="none"/>
            <a:tailEnd len="med" w="med" type="triangle"/>
          </a:ln>
        </p:spPr>
      </p:sp>
      <p:pic>
        <p:nvPicPr>
          <p:cNvPr id="294" name="Google Shape;294;p22"/>
          <p:cNvPicPr preferRelativeResize="0"/>
          <p:nvPr/>
        </p:nvPicPr>
        <p:blipFill>
          <a:blip r:embed="rId6">
            <a:alphaModFix/>
          </a:blip>
          <a:stretch>
            <a:fillRect/>
          </a:stretch>
        </p:blipFill>
        <p:spPr>
          <a:xfrm>
            <a:off x="4089050" y="3224675"/>
            <a:ext cx="3421599" cy="1593850"/>
          </a:xfrm>
          <a:prstGeom prst="rect">
            <a:avLst/>
          </a:prstGeom>
          <a:noFill/>
          <a:ln>
            <a:noFill/>
          </a:ln>
        </p:spPr>
      </p:pic>
      <p:sp>
        <p:nvSpPr>
          <p:cNvPr id="295" name="Google Shape;295;p22"/>
          <p:cNvSpPr txBox="1"/>
          <p:nvPr/>
        </p:nvSpPr>
        <p:spPr>
          <a:xfrm>
            <a:off x="7110950" y="3453100"/>
            <a:ext cx="179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chemeClr val="lt1"/>
                </a:highlight>
              </a:rPr>
              <a:t>Noise (N)</a:t>
            </a:r>
            <a:endParaRPr sz="1800">
              <a:solidFill>
                <a:schemeClr val="dk1"/>
              </a:solidFill>
              <a:highlight>
                <a:schemeClr val="lt1"/>
              </a:highlight>
            </a:endParaRPr>
          </a:p>
        </p:txBody>
      </p:sp>
      <p:sp>
        <p:nvSpPr>
          <p:cNvPr id="296" name="Google Shape;29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3"/>
          <p:cNvSpPr txBox="1"/>
          <p:nvPr/>
        </p:nvSpPr>
        <p:spPr>
          <a:xfrm>
            <a:off x="3425700" y="584750"/>
            <a:ext cx="616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“We achieve on average a 1.10% translational error”</a:t>
            </a:r>
            <a:endParaRPr sz="1800">
              <a:solidFill>
                <a:schemeClr val="dk1"/>
              </a:solidFill>
            </a:endParaRPr>
          </a:p>
        </p:txBody>
      </p:sp>
      <p:sp>
        <p:nvSpPr>
          <p:cNvPr id="302" name="Google Shape;302;p23"/>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Author’s Good Result</a:t>
            </a:r>
            <a:endParaRPr/>
          </a:p>
        </p:txBody>
      </p:sp>
      <p:pic>
        <p:nvPicPr>
          <p:cNvPr id="303" name="Google Shape;303;p23"/>
          <p:cNvPicPr preferRelativeResize="0"/>
          <p:nvPr/>
        </p:nvPicPr>
        <p:blipFill>
          <a:blip r:embed="rId3">
            <a:alphaModFix/>
          </a:blip>
          <a:stretch>
            <a:fillRect/>
          </a:stretch>
        </p:blipFill>
        <p:spPr>
          <a:xfrm>
            <a:off x="3506500" y="3551600"/>
            <a:ext cx="4934927" cy="1571075"/>
          </a:xfrm>
          <a:prstGeom prst="rect">
            <a:avLst/>
          </a:prstGeom>
          <a:noFill/>
          <a:ln>
            <a:noFill/>
          </a:ln>
        </p:spPr>
      </p:pic>
      <p:pic>
        <p:nvPicPr>
          <p:cNvPr id="304" name="Google Shape;304;p23" title="08.gif"/>
          <p:cNvPicPr preferRelativeResize="0"/>
          <p:nvPr/>
        </p:nvPicPr>
        <p:blipFill>
          <a:blip r:embed="rId4">
            <a:alphaModFix/>
          </a:blip>
          <a:stretch>
            <a:fillRect/>
          </a:stretch>
        </p:blipFill>
        <p:spPr>
          <a:xfrm>
            <a:off x="6238534" y="1042287"/>
            <a:ext cx="2302142" cy="2447425"/>
          </a:xfrm>
          <a:prstGeom prst="rect">
            <a:avLst/>
          </a:prstGeom>
          <a:noFill/>
          <a:ln>
            <a:noFill/>
          </a:ln>
        </p:spPr>
      </p:pic>
      <p:pic>
        <p:nvPicPr>
          <p:cNvPr id="305" name="Google Shape;305;p23"/>
          <p:cNvPicPr preferRelativeResize="0"/>
          <p:nvPr/>
        </p:nvPicPr>
        <p:blipFill>
          <a:blip r:embed="rId5">
            <a:alphaModFix/>
          </a:blip>
          <a:stretch>
            <a:fillRect/>
          </a:stretch>
        </p:blipFill>
        <p:spPr>
          <a:xfrm>
            <a:off x="3958825" y="980387"/>
            <a:ext cx="1818024" cy="2571200"/>
          </a:xfrm>
          <a:prstGeom prst="rect">
            <a:avLst/>
          </a:prstGeom>
          <a:noFill/>
          <a:ln>
            <a:noFill/>
          </a:ln>
        </p:spPr>
      </p:pic>
      <p:pic>
        <p:nvPicPr>
          <p:cNvPr id="306" name="Google Shape;306;p23"/>
          <p:cNvPicPr preferRelativeResize="0"/>
          <p:nvPr/>
        </p:nvPicPr>
        <p:blipFill>
          <a:blip r:embed="rId6">
            <a:alphaModFix/>
          </a:blip>
          <a:stretch>
            <a:fillRect/>
          </a:stretch>
        </p:blipFill>
        <p:spPr>
          <a:xfrm>
            <a:off x="278898" y="844800"/>
            <a:ext cx="2952751" cy="4194600"/>
          </a:xfrm>
          <a:prstGeom prst="rect">
            <a:avLst/>
          </a:prstGeom>
          <a:noFill/>
          <a:ln>
            <a:noFill/>
          </a:ln>
        </p:spPr>
      </p:pic>
      <p:sp>
        <p:nvSpPr>
          <p:cNvPr id="307" name="Google Shape;30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4"/>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Author’s Bad Result</a:t>
            </a:r>
            <a:endParaRPr/>
          </a:p>
        </p:txBody>
      </p:sp>
      <p:pic>
        <p:nvPicPr>
          <p:cNvPr id="313" name="Google Shape;313;p24"/>
          <p:cNvPicPr preferRelativeResize="0"/>
          <p:nvPr/>
        </p:nvPicPr>
        <p:blipFill>
          <a:blip r:embed="rId3">
            <a:alphaModFix/>
          </a:blip>
          <a:stretch>
            <a:fillRect/>
          </a:stretch>
        </p:blipFill>
        <p:spPr>
          <a:xfrm>
            <a:off x="172000" y="2876950"/>
            <a:ext cx="2383049" cy="1972650"/>
          </a:xfrm>
          <a:prstGeom prst="rect">
            <a:avLst/>
          </a:prstGeom>
          <a:noFill/>
          <a:ln>
            <a:noFill/>
          </a:ln>
        </p:spPr>
      </p:pic>
      <p:pic>
        <p:nvPicPr>
          <p:cNvPr id="314" name="Google Shape;314;p24"/>
          <p:cNvPicPr preferRelativeResize="0"/>
          <p:nvPr/>
        </p:nvPicPr>
        <p:blipFill>
          <a:blip r:embed="rId4">
            <a:alphaModFix/>
          </a:blip>
          <a:stretch>
            <a:fillRect/>
          </a:stretch>
        </p:blipFill>
        <p:spPr>
          <a:xfrm>
            <a:off x="233587" y="937937"/>
            <a:ext cx="2259875" cy="1772451"/>
          </a:xfrm>
          <a:prstGeom prst="rect">
            <a:avLst/>
          </a:prstGeom>
          <a:noFill/>
          <a:ln>
            <a:noFill/>
          </a:ln>
        </p:spPr>
      </p:pic>
      <p:pic>
        <p:nvPicPr>
          <p:cNvPr id="315" name="Google Shape;315;p24"/>
          <p:cNvPicPr preferRelativeResize="0"/>
          <p:nvPr/>
        </p:nvPicPr>
        <p:blipFill>
          <a:blip r:embed="rId5">
            <a:alphaModFix/>
          </a:blip>
          <a:stretch>
            <a:fillRect/>
          </a:stretch>
        </p:blipFill>
        <p:spPr>
          <a:xfrm>
            <a:off x="3107238" y="861499"/>
            <a:ext cx="1769956" cy="1925324"/>
          </a:xfrm>
          <a:prstGeom prst="rect">
            <a:avLst/>
          </a:prstGeom>
          <a:noFill/>
          <a:ln>
            <a:noFill/>
          </a:ln>
        </p:spPr>
      </p:pic>
      <p:pic>
        <p:nvPicPr>
          <p:cNvPr id="316" name="Google Shape;316;p24"/>
          <p:cNvPicPr preferRelativeResize="0"/>
          <p:nvPr/>
        </p:nvPicPr>
        <p:blipFill>
          <a:blip r:embed="rId6">
            <a:alphaModFix/>
          </a:blip>
          <a:stretch>
            <a:fillRect/>
          </a:stretch>
        </p:blipFill>
        <p:spPr>
          <a:xfrm>
            <a:off x="5836600" y="904450"/>
            <a:ext cx="3005998" cy="1378126"/>
          </a:xfrm>
          <a:prstGeom prst="rect">
            <a:avLst/>
          </a:prstGeom>
          <a:noFill/>
          <a:ln>
            <a:noFill/>
          </a:ln>
        </p:spPr>
      </p:pic>
      <p:cxnSp>
        <p:nvCxnSpPr>
          <p:cNvPr id="317" name="Google Shape;317;p24"/>
          <p:cNvCxnSpPr/>
          <p:nvPr/>
        </p:nvCxnSpPr>
        <p:spPr>
          <a:xfrm>
            <a:off x="5853450" y="904450"/>
            <a:ext cx="2873100" cy="1293300"/>
          </a:xfrm>
          <a:prstGeom prst="straightConnector1">
            <a:avLst/>
          </a:prstGeom>
          <a:noFill/>
          <a:ln cap="flat" cmpd="sng" w="19050">
            <a:solidFill>
              <a:srgbClr val="FF0000"/>
            </a:solidFill>
            <a:prstDash val="solid"/>
            <a:round/>
            <a:headEnd len="med" w="med" type="none"/>
            <a:tailEnd len="med" w="med" type="none"/>
          </a:ln>
        </p:spPr>
      </p:cxnSp>
      <p:cxnSp>
        <p:nvCxnSpPr>
          <p:cNvPr id="318" name="Google Shape;318;p24"/>
          <p:cNvCxnSpPr/>
          <p:nvPr/>
        </p:nvCxnSpPr>
        <p:spPr>
          <a:xfrm flipH="1" rot="10800000">
            <a:off x="5969625" y="919925"/>
            <a:ext cx="2718000" cy="1200300"/>
          </a:xfrm>
          <a:prstGeom prst="straightConnector1">
            <a:avLst/>
          </a:prstGeom>
          <a:noFill/>
          <a:ln cap="flat" cmpd="sng" w="19050">
            <a:solidFill>
              <a:srgbClr val="FF0000"/>
            </a:solidFill>
            <a:prstDash val="solid"/>
            <a:round/>
            <a:headEnd len="med" w="med" type="none"/>
            <a:tailEnd len="med" w="med" type="none"/>
          </a:ln>
        </p:spPr>
      </p:cxnSp>
      <p:pic>
        <p:nvPicPr>
          <p:cNvPr id="319" name="Google Shape;319;p24"/>
          <p:cNvPicPr preferRelativeResize="0"/>
          <p:nvPr/>
        </p:nvPicPr>
        <p:blipFill>
          <a:blip r:embed="rId7">
            <a:alphaModFix/>
          </a:blip>
          <a:stretch>
            <a:fillRect/>
          </a:stretch>
        </p:blipFill>
        <p:spPr>
          <a:xfrm>
            <a:off x="5969625" y="2197750"/>
            <a:ext cx="3005999" cy="2751158"/>
          </a:xfrm>
          <a:prstGeom prst="rect">
            <a:avLst/>
          </a:prstGeom>
          <a:noFill/>
          <a:ln>
            <a:noFill/>
          </a:ln>
        </p:spPr>
      </p:pic>
      <p:pic>
        <p:nvPicPr>
          <p:cNvPr id="320" name="Google Shape;320;p24"/>
          <p:cNvPicPr preferRelativeResize="0"/>
          <p:nvPr/>
        </p:nvPicPr>
        <p:blipFill>
          <a:blip r:embed="rId8">
            <a:alphaModFix/>
          </a:blip>
          <a:stretch>
            <a:fillRect/>
          </a:stretch>
        </p:blipFill>
        <p:spPr>
          <a:xfrm>
            <a:off x="3055001" y="2876950"/>
            <a:ext cx="1874426" cy="2123800"/>
          </a:xfrm>
          <a:prstGeom prst="rect">
            <a:avLst/>
          </a:prstGeom>
          <a:noFill/>
          <a:ln>
            <a:noFill/>
          </a:ln>
        </p:spPr>
      </p:pic>
      <p:sp>
        <p:nvSpPr>
          <p:cNvPr id="321" name="Google Shape;32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txBox="1"/>
          <p:nvPr>
            <p:ph idx="1" type="body"/>
          </p:nvPr>
        </p:nvSpPr>
        <p:spPr>
          <a:xfrm>
            <a:off x="413550" y="1303125"/>
            <a:ext cx="3125100" cy="572700"/>
          </a:xfrm>
          <a:prstGeom prst="rect">
            <a:avLst/>
          </a:prstGeom>
        </p:spPr>
        <p:txBody>
          <a:bodyPr anchorCtr="0" anchor="t" bIns="91425" lIns="91425" spcFirstLastPara="1" rIns="91425" wrap="square" tIns="91425">
            <a:normAutofit fontScale="77500" lnSpcReduction="10000"/>
          </a:bodyPr>
          <a:lstStyle/>
          <a:p>
            <a:pPr indent="0" lvl="0" marL="0" rtl="0" algn="ctr">
              <a:lnSpc>
                <a:spcPct val="100000"/>
              </a:lnSpc>
              <a:spcBef>
                <a:spcPts val="0"/>
              </a:spcBef>
              <a:spcAft>
                <a:spcPts val="0"/>
              </a:spcAft>
              <a:buClr>
                <a:schemeClr val="dk1"/>
              </a:buClr>
              <a:buSzPct val="61111"/>
              <a:buFont typeface="Arial"/>
              <a:buNone/>
            </a:pPr>
            <a:r>
              <a:rPr lang="en">
                <a:solidFill>
                  <a:schemeClr val="dk1"/>
                </a:solidFill>
              </a:rPr>
              <a:t>Account for c</a:t>
            </a:r>
            <a:r>
              <a:rPr lang="en">
                <a:solidFill>
                  <a:schemeClr val="dk1"/>
                </a:solidFill>
              </a:rPr>
              <a:t>entrifugal acceleration as New Pseudo-measurement</a:t>
            </a:r>
            <a:endParaRPr/>
          </a:p>
        </p:txBody>
      </p:sp>
      <p:pic>
        <p:nvPicPr>
          <p:cNvPr id="327" name="Google Shape;327;p25"/>
          <p:cNvPicPr preferRelativeResize="0"/>
          <p:nvPr/>
        </p:nvPicPr>
        <p:blipFill>
          <a:blip r:embed="rId3">
            <a:alphaModFix/>
          </a:blip>
          <a:stretch>
            <a:fillRect/>
          </a:stretch>
        </p:blipFill>
        <p:spPr>
          <a:xfrm>
            <a:off x="413550" y="738940"/>
            <a:ext cx="3125100" cy="564176"/>
          </a:xfrm>
          <a:prstGeom prst="rect">
            <a:avLst/>
          </a:prstGeom>
          <a:noFill/>
          <a:ln>
            <a:noFill/>
          </a:ln>
        </p:spPr>
      </p:pic>
      <p:sp>
        <p:nvSpPr>
          <p:cNvPr id="328" name="Google Shape;328;p25"/>
          <p:cNvSpPr txBox="1"/>
          <p:nvPr/>
        </p:nvSpPr>
        <p:spPr>
          <a:xfrm>
            <a:off x="360700" y="3818075"/>
            <a:ext cx="2337000" cy="505200"/>
          </a:xfrm>
          <a:prstGeom prst="rect">
            <a:avLst/>
          </a:prstGeom>
          <a:noFill/>
          <a:ln>
            <a:noFill/>
          </a:ln>
        </p:spPr>
        <p:txBody>
          <a:bodyPr anchorCtr="0" anchor="t" bIns="100050" lIns="100050" spcFirstLastPara="1" rIns="100050" wrap="square" tIns="100050">
            <a:spAutoFit/>
          </a:bodyPr>
          <a:lstStyle/>
          <a:p>
            <a:pPr indent="0" lvl="0" marL="0" rtl="0" algn="l">
              <a:spcBef>
                <a:spcPts val="0"/>
              </a:spcBef>
              <a:spcAft>
                <a:spcPts val="0"/>
              </a:spcAft>
              <a:buNone/>
            </a:pPr>
            <a:r>
              <a:rPr lang="en" sz="1970">
                <a:solidFill>
                  <a:schemeClr val="dk1"/>
                </a:solidFill>
              </a:rPr>
              <a:t>Ackerman model</a:t>
            </a:r>
            <a:endParaRPr sz="1970">
              <a:solidFill>
                <a:schemeClr val="dk2"/>
              </a:solidFill>
            </a:endParaRPr>
          </a:p>
        </p:txBody>
      </p:sp>
      <p:pic>
        <p:nvPicPr>
          <p:cNvPr id="329" name="Google Shape;329;p25"/>
          <p:cNvPicPr preferRelativeResize="0"/>
          <p:nvPr/>
        </p:nvPicPr>
        <p:blipFill>
          <a:blip r:embed="rId4">
            <a:alphaModFix/>
          </a:blip>
          <a:stretch>
            <a:fillRect/>
          </a:stretch>
        </p:blipFill>
        <p:spPr>
          <a:xfrm>
            <a:off x="343050" y="2126550"/>
            <a:ext cx="2218600" cy="1638075"/>
          </a:xfrm>
          <a:prstGeom prst="rect">
            <a:avLst/>
          </a:prstGeom>
          <a:noFill/>
          <a:ln>
            <a:noFill/>
          </a:ln>
        </p:spPr>
      </p:pic>
      <p:cxnSp>
        <p:nvCxnSpPr>
          <p:cNvPr id="330" name="Google Shape;330;p25"/>
          <p:cNvCxnSpPr/>
          <p:nvPr/>
        </p:nvCxnSpPr>
        <p:spPr>
          <a:xfrm>
            <a:off x="1632625" y="3211425"/>
            <a:ext cx="518400" cy="398100"/>
          </a:xfrm>
          <a:prstGeom prst="straightConnector1">
            <a:avLst/>
          </a:prstGeom>
          <a:noFill/>
          <a:ln cap="flat" cmpd="sng" w="28575">
            <a:solidFill>
              <a:srgbClr val="FF0000"/>
            </a:solidFill>
            <a:prstDash val="solid"/>
            <a:round/>
            <a:headEnd len="med" w="med" type="none"/>
            <a:tailEnd len="med" w="med" type="triangle"/>
          </a:ln>
        </p:spPr>
      </p:cxnSp>
      <p:pic>
        <p:nvPicPr>
          <p:cNvPr id="331" name="Google Shape;331;p25"/>
          <p:cNvPicPr preferRelativeResize="0"/>
          <p:nvPr/>
        </p:nvPicPr>
        <p:blipFill>
          <a:blip r:embed="rId5">
            <a:alphaModFix/>
          </a:blip>
          <a:stretch>
            <a:fillRect/>
          </a:stretch>
        </p:blipFill>
        <p:spPr>
          <a:xfrm>
            <a:off x="3074200" y="2854550"/>
            <a:ext cx="5919652" cy="2150500"/>
          </a:xfrm>
          <a:prstGeom prst="rect">
            <a:avLst/>
          </a:prstGeom>
          <a:noFill/>
          <a:ln>
            <a:noFill/>
          </a:ln>
        </p:spPr>
      </p:pic>
      <p:pic>
        <p:nvPicPr>
          <p:cNvPr id="332" name="Google Shape;332;p25"/>
          <p:cNvPicPr preferRelativeResize="0"/>
          <p:nvPr/>
        </p:nvPicPr>
        <p:blipFill>
          <a:blip r:embed="rId6">
            <a:alphaModFix/>
          </a:blip>
          <a:stretch>
            <a:fillRect/>
          </a:stretch>
        </p:blipFill>
        <p:spPr>
          <a:xfrm>
            <a:off x="7658650" y="3350950"/>
            <a:ext cx="420350" cy="286375"/>
          </a:xfrm>
          <a:prstGeom prst="rect">
            <a:avLst/>
          </a:prstGeom>
          <a:noFill/>
          <a:ln>
            <a:noFill/>
          </a:ln>
        </p:spPr>
      </p:pic>
      <p:pic>
        <p:nvPicPr>
          <p:cNvPr id="333" name="Google Shape;333;p25"/>
          <p:cNvPicPr preferRelativeResize="0"/>
          <p:nvPr/>
        </p:nvPicPr>
        <p:blipFill>
          <a:blip r:embed="rId6">
            <a:alphaModFix/>
          </a:blip>
          <a:stretch>
            <a:fillRect/>
          </a:stretch>
        </p:blipFill>
        <p:spPr>
          <a:xfrm>
            <a:off x="8331000" y="3211414"/>
            <a:ext cx="314675" cy="214413"/>
          </a:xfrm>
          <a:prstGeom prst="rect">
            <a:avLst/>
          </a:prstGeom>
          <a:noFill/>
          <a:ln>
            <a:noFill/>
          </a:ln>
        </p:spPr>
      </p:pic>
      <p:cxnSp>
        <p:nvCxnSpPr>
          <p:cNvPr id="334" name="Google Shape;334;p25"/>
          <p:cNvCxnSpPr/>
          <p:nvPr/>
        </p:nvCxnSpPr>
        <p:spPr>
          <a:xfrm>
            <a:off x="5496675" y="1374275"/>
            <a:ext cx="12900" cy="3561900"/>
          </a:xfrm>
          <a:prstGeom prst="straightConnector1">
            <a:avLst/>
          </a:prstGeom>
          <a:noFill/>
          <a:ln cap="flat" cmpd="sng" w="28575">
            <a:solidFill>
              <a:srgbClr val="FF9900"/>
            </a:solidFill>
            <a:prstDash val="solid"/>
            <a:round/>
            <a:headEnd len="med" w="med" type="none"/>
            <a:tailEnd len="med" w="med" type="none"/>
          </a:ln>
        </p:spPr>
      </p:cxnSp>
      <p:sp>
        <p:nvSpPr>
          <p:cNvPr id="335" name="Google Shape;335;p25"/>
          <p:cNvSpPr txBox="1"/>
          <p:nvPr/>
        </p:nvSpPr>
        <p:spPr>
          <a:xfrm>
            <a:off x="4035088" y="1534375"/>
            <a:ext cx="117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State</a:t>
            </a:r>
            <a:endParaRPr sz="1800">
              <a:solidFill>
                <a:schemeClr val="dk1"/>
              </a:solidFill>
            </a:endParaRPr>
          </a:p>
        </p:txBody>
      </p:sp>
      <p:sp>
        <p:nvSpPr>
          <p:cNvPr id="336" name="Google Shape;336;p25"/>
          <p:cNvSpPr txBox="1"/>
          <p:nvPr/>
        </p:nvSpPr>
        <p:spPr>
          <a:xfrm>
            <a:off x="6368825" y="15108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Measurement</a:t>
            </a:r>
            <a:endParaRPr sz="1800">
              <a:solidFill>
                <a:schemeClr val="dk1"/>
              </a:solidFill>
            </a:endParaRPr>
          </a:p>
        </p:txBody>
      </p:sp>
      <p:pic>
        <p:nvPicPr>
          <p:cNvPr id="337" name="Google Shape;337;p25"/>
          <p:cNvPicPr preferRelativeResize="0"/>
          <p:nvPr/>
        </p:nvPicPr>
        <p:blipFill>
          <a:blip r:embed="rId7">
            <a:alphaModFix/>
          </a:blip>
          <a:stretch>
            <a:fillRect/>
          </a:stretch>
        </p:blipFill>
        <p:spPr>
          <a:xfrm>
            <a:off x="5085550" y="4323275"/>
            <a:ext cx="383825" cy="261500"/>
          </a:xfrm>
          <a:prstGeom prst="rect">
            <a:avLst/>
          </a:prstGeom>
          <a:noFill/>
          <a:ln>
            <a:noFill/>
          </a:ln>
        </p:spPr>
      </p:pic>
      <p:pic>
        <p:nvPicPr>
          <p:cNvPr id="338" name="Google Shape;338;p25"/>
          <p:cNvPicPr preferRelativeResize="0"/>
          <p:nvPr/>
        </p:nvPicPr>
        <p:blipFill>
          <a:blip r:embed="rId8">
            <a:alphaModFix/>
          </a:blip>
          <a:stretch>
            <a:fillRect/>
          </a:stretch>
        </p:blipFill>
        <p:spPr>
          <a:xfrm>
            <a:off x="6641750" y="2126538"/>
            <a:ext cx="1147300" cy="597550"/>
          </a:xfrm>
          <a:prstGeom prst="rect">
            <a:avLst/>
          </a:prstGeom>
          <a:noFill/>
          <a:ln>
            <a:noFill/>
          </a:ln>
        </p:spPr>
      </p:pic>
      <p:pic>
        <p:nvPicPr>
          <p:cNvPr id="339" name="Google Shape;339;p25"/>
          <p:cNvPicPr preferRelativeResize="0"/>
          <p:nvPr/>
        </p:nvPicPr>
        <p:blipFill>
          <a:blip r:embed="rId9">
            <a:alphaModFix/>
          </a:blip>
          <a:stretch>
            <a:fillRect/>
          </a:stretch>
        </p:blipFill>
        <p:spPr>
          <a:xfrm>
            <a:off x="4078100" y="2033550"/>
            <a:ext cx="666749" cy="690550"/>
          </a:xfrm>
          <a:prstGeom prst="rect">
            <a:avLst/>
          </a:prstGeom>
          <a:noFill/>
          <a:ln>
            <a:noFill/>
          </a:ln>
        </p:spPr>
      </p:pic>
      <p:sp>
        <p:nvSpPr>
          <p:cNvPr id="340" name="Google Shape;340;p25"/>
          <p:cNvSpPr txBox="1"/>
          <p:nvPr>
            <p:ph type="title"/>
          </p:nvPr>
        </p:nvSpPr>
        <p:spPr>
          <a:xfrm>
            <a:off x="360700" y="16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Approach</a:t>
            </a:r>
            <a:endParaRPr/>
          </a:p>
        </p:txBody>
      </p:sp>
      <p:sp>
        <p:nvSpPr>
          <p:cNvPr id="341" name="Google Shape;34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26"/>
          <p:cNvPicPr preferRelativeResize="0"/>
          <p:nvPr/>
        </p:nvPicPr>
        <p:blipFill>
          <a:blip r:embed="rId3">
            <a:alphaModFix/>
          </a:blip>
          <a:stretch>
            <a:fillRect/>
          </a:stretch>
        </p:blipFill>
        <p:spPr>
          <a:xfrm>
            <a:off x="151175" y="3440225"/>
            <a:ext cx="8982523" cy="1381600"/>
          </a:xfrm>
          <a:prstGeom prst="rect">
            <a:avLst/>
          </a:prstGeom>
          <a:noFill/>
          <a:ln>
            <a:noFill/>
          </a:ln>
        </p:spPr>
      </p:pic>
      <p:pic>
        <p:nvPicPr>
          <p:cNvPr id="347" name="Google Shape;347;p26"/>
          <p:cNvPicPr preferRelativeResize="0"/>
          <p:nvPr/>
        </p:nvPicPr>
        <p:blipFill>
          <a:blip r:embed="rId4">
            <a:alphaModFix/>
          </a:blip>
          <a:stretch>
            <a:fillRect/>
          </a:stretch>
        </p:blipFill>
        <p:spPr>
          <a:xfrm>
            <a:off x="233450" y="913013"/>
            <a:ext cx="3961751" cy="512650"/>
          </a:xfrm>
          <a:prstGeom prst="rect">
            <a:avLst/>
          </a:prstGeom>
          <a:noFill/>
          <a:ln>
            <a:noFill/>
          </a:ln>
        </p:spPr>
      </p:pic>
      <p:sp>
        <p:nvSpPr>
          <p:cNvPr id="348" name="Google Shape;348;p26"/>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Approach</a:t>
            </a:r>
            <a:endParaRPr/>
          </a:p>
        </p:txBody>
      </p:sp>
      <p:pic>
        <p:nvPicPr>
          <p:cNvPr id="349" name="Google Shape;349;p26"/>
          <p:cNvPicPr preferRelativeResize="0"/>
          <p:nvPr/>
        </p:nvPicPr>
        <p:blipFill>
          <a:blip r:embed="rId5">
            <a:alphaModFix/>
          </a:blip>
          <a:stretch>
            <a:fillRect/>
          </a:stretch>
        </p:blipFill>
        <p:spPr>
          <a:xfrm>
            <a:off x="5223125" y="661313"/>
            <a:ext cx="3221601" cy="627975"/>
          </a:xfrm>
          <a:prstGeom prst="rect">
            <a:avLst/>
          </a:prstGeom>
          <a:noFill/>
          <a:ln>
            <a:noFill/>
          </a:ln>
        </p:spPr>
      </p:pic>
      <p:pic>
        <p:nvPicPr>
          <p:cNvPr id="350" name="Google Shape;350;p26"/>
          <p:cNvPicPr preferRelativeResize="0"/>
          <p:nvPr/>
        </p:nvPicPr>
        <p:blipFill>
          <a:blip r:embed="rId6">
            <a:alphaModFix/>
          </a:blip>
          <a:stretch>
            <a:fillRect/>
          </a:stretch>
        </p:blipFill>
        <p:spPr>
          <a:xfrm>
            <a:off x="324577" y="1434626"/>
            <a:ext cx="4230871" cy="572700"/>
          </a:xfrm>
          <a:prstGeom prst="rect">
            <a:avLst/>
          </a:prstGeom>
          <a:noFill/>
          <a:ln>
            <a:noFill/>
          </a:ln>
        </p:spPr>
      </p:pic>
      <p:pic>
        <p:nvPicPr>
          <p:cNvPr id="351" name="Google Shape;351;p26"/>
          <p:cNvPicPr preferRelativeResize="0"/>
          <p:nvPr/>
        </p:nvPicPr>
        <p:blipFill>
          <a:blip r:embed="rId7">
            <a:alphaModFix/>
          </a:blip>
          <a:stretch>
            <a:fillRect/>
          </a:stretch>
        </p:blipFill>
        <p:spPr>
          <a:xfrm>
            <a:off x="329523" y="2326450"/>
            <a:ext cx="3333177" cy="461700"/>
          </a:xfrm>
          <a:prstGeom prst="rect">
            <a:avLst/>
          </a:prstGeom>
          <a:noFill/>
          <a:ln>
            <a:noFill/>
          </a:ln>
        </p:spPr>
      </p:pic>
      <p:pic>
        <p:nvPicPr>
          <p:cNvPr id="352" name="Google Shape;352;p26"/>
          <p:cNvPicPr preferRelativeResize="0"/>
          <p:nvPr/>
        </p:nvPicPr>
        <p:blipFill>
          <a:blip r:embed="rId8">
            <a:alphaModFix/>
          </a:blip>
          <a:stretch>
            <a:fillRect/>
          </a:stretch>
        </p:blipFill>
        <p:spPr>
          <a:xfrm>
            <a:off x="329513" y="1971627"/>
            <a:ext cx="4220999" cy="409913"/>
          </a:xfrm>
          <a:prstGeom prst="rect">
            <a:avLst/>
          </a:prstGeom>
          <a:noFill/>
          <a:ln>
            <a:noFill/>
          </a:ln>
        </p:spPr>
      </p:pic>
      <p:cxnSp>
        <p:nvCxnSpPr>
          <p:cNvPr id="353" name="Google Shape;353;p26"/>
          <p:cNvCxnSpPr/>
          <p:nvPr/>
        </p:nvCxnSpPr>
        <p:spPr>
          <a:xfrm flipH="1">
            <a:off x="221750" y="1517788"/>
            <a:ext cx="11700" cy="1139700"/>
          </a:xfrm>
          <a:prstGeom prst="straightConnector1">
            <a:avLst/>
          </a:prstGeom>
          <a:noFill/>
          <a:ln cap="flat" cmpd="sng" w="28575">
            <a:solidFill>
              <a:srgbClr val="00FF00"/>
            </a:solidFill>
            <a:prstDash val="solid"/>
            <a:round/>
            <a:headEnd len="med" w="med" type="none"/>
            <a:tailEnd len="med" w="med" type="none"/>
          </a:ln>
        </p:spPr>
      </p:cxnSp>
      <p:pic>
        <p:nvPicPr>
          <p:cNvPr id="354" name="Google Shape;354;p26"/>
          <p:cNvPicPr preferRelativeResize="0"/>
          <p:nvPr/>
        </p:nvPicPr>
        <p:blipFill>
          <a:blip r:embed="rId9">
            <a:alphaModFix/>
          </a:blip>
          <a:stretch>
            <a:fillRect/>
          </a:stretch>
        </p:blipFill>
        <p:spPr>
          <a:xfrm>
            <a:off x="5019902" y="2205574"/>
            <a:ext cx="3917549" cy="839900"/>
          </a:xfrm>
          <a:prstGeom prst="rect">
            <a:avLst/>
          </a:prstGeom>
          <a:noFill/>
          <a:ln>
            <a:noFill/>
          </a:ln>
        </p:spPr>
      </p:pic>
      <p:sp>
        <p:nvSpPr>
          <p:cNvPr id="355" name="Google Shape;355;p26"/>
          <p:cNvSpPr txBox="1"/>
          <p:nvPr/>
        </p:nvSpPr>
        <p:spPr>
          <a:xfrm>
            <a:off x="5019900" y="1679075"/>
            <a:ext cx="4311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New Pseudo-Measurement model</a:t>
            </a:r>
            <a:endParaRPr sz="2000">
              <a:solidFill>
                <a:schemeClr val="dk1"/>
              </a:solidFill>
            </a:endParaRPr>
          </a:p>
        </p:txBody>
      </p:sp>
      <p:sp>
        <p:nvSpPr>
          <p:cNvPr id="356" name="Google Shape;35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Covariance prediction model</a:t>
            </a:r>
            <a:endParaRPr/>
          </a:p>
        </p:txBody>
      </p:sp>
      <p:sp>
        <p:nvSpPr>
          <p:cNvPr id="362" name="Google Shape;36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3" name="Google Shape;363;p27"/>
          <p:cNvPicPr preferRelativeResize="0"/>
          <p:nvPr/>
        </p:nvPicPr>
        <p:blipFill rotWithShape="1">
          <a:blip r:embed="rId3">
            <a:alphaModFix/>
          </a:blip>
          <a:srcRect b="-13340" l="-13340" r="0" t="0"/>
          <a:stretch/>
        </p:blipFill>
        <p:spPr>
          <a:xfrm>
            <a:off x="1786150" y="1419700"/>
            <a:ext cx="7185051" cy="1050850"/>
          </a:xfrm>
          <a:prstGeom prst="rect">
            <a:avLst/>
          </a:prstGeom>
          <a:noFill/>
          <a:ln>
            <a:noFill/>
          </a:ln>
        </p:spPr>
      </p:pic>
      <p:pic>
        <p:nvPicPr>
          <p:cNvPr id="364" name="Google Shape;364;p27"/>
          <p:cNvPicPr preferRelativeResize="0"/>
          <p:nvPr/>
        </p:nvPicPr>
        <p:blipFill rotWithShape="1">
          <a:blip r:embed="rId4">
            <a:alphaModFix/>
          </a:blip>
          <a:srcRect b="17542" l="5702" r="5051" t="20668"/>
          <a:stretch/>
        </p:blipFill>
        <p:spPr>
          <a:xfrm>
            <a:off x="432450" y="2759288"/>
            <a:ext cx="4020951" cy="479562"/>
          </a:xfrm>
          <a:prstGeom prst="rect">
            <a:avLst/>
          </a:prstGeom>
          <a:noFill/>
          <a:ln>
            <a:noFill/>
          </a:ln>
        </p:spPr>
      </p:pic>
      <p:pic>
        <p:nvPicPr>
          <p:cNvPr id="365" name="Google Shape;365;p27"/>
          <p:cNvPicPr preferRelativeResize="0"/>
          <p:nvPr/>
        </p:nvPicPr>
        <p:blipFill rotWithShape="1">
          <a:blip r:embed="rId5">
            <a:alphaModFix/>
          </a:blip>
          <a:srcRect b="20230" l="0" r="0" t="9083"/>
          <a:stretch/>
        </p:blipFill>
        <p:spPr>
          <a:xfrm>
            <a:off x="4149750" y="3786000"/>
            <a:ext cx="4582250" cy="479550"/>
          </a:xfrm>
          <a:prstGeom prst="rect">
            <a:avLst/>
          </a:prstGeom>
          <a:noFill/>
          <a:ln>
            <a:noFill/>
          </a:ln>
        </p:spPr>
      </p:pic>
      <p:sp>
        <p:nvSpPr>
          <p:cNvPr id="366" name="Google Shape;366;p27"/>
          <p:cNvSpPr/>
          <p:nvPr/>
        </p:nvSpPr>
        <p:spPr>
          <a:xfrm>
            <a:off x="772900" y="17022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MesNet</a:t>
            </a:r>
            <a:endParaRPr/>
          </a:p>
        </p:txBody>
      </p:sp>
      <p:sp>
        <p:nvSpPr>
          <p:cNvPr id="367" name="Google Shape;36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Covariance prediction model</a:t>
            </a:r>
            <a:endParaRPr/>
          </a:p>
          <a:p>
            <a:pPr indent="0" lvl="0" marL="0" rtl="0" algn="l">
              <a:spcBef>
                <a:spcPts val="0"/>
              </a:spcBef>
              <a:spcAft>
                <a:spcPts val="0"/>
              </a:spcAft>
              <a:buNone/>
            </a:pPr>
            <a:r>
              <a:t/>
            </a:r>
            <a:endParaRPr/>
          </a:p>
        </p:txBody>
      </p:sp>
      <p:sp>
        <p:nvSpPr>
          <p:cNvPr id="373" name="Google Shape;37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4" name="Google Shape;374;p28"/>
          <p:cNvPicPr preferRelativeResize="0"/>
          <p:nvPr/>
        </p:nvPicPr>
        <p:blipFill rotWithShape="1">
          <a:blip r:embed="rId3">
            <a:alphaModFix/>
          </a:blip>
          <a:srcRect b="-13340" l="-13340" r="0" t="0"/>
          <a:stretch/>
        </p:blipFill>
        <p:spPr>
          <a:xfrm>
            <a:off x="1786150" y="1419700"/>
            <a:ext cx="7185051" cy="1050850"/>
          </a:xfrm>
          <a:prstGeom prst="rect">
            <a:avLst/>
          </a:prstGeom>
          <a:noFill/>
          <a:ln>
            <a:noFill/>
          </a:ln>
        </p:spPr>
      </p:pic>
      <p:pic>
        <p:nvPicPr>
          <p:cNvPr id="375" name="Google Shape;375;p28"/>
          <p:cNvPicPr preferRelativeResize="0"/>
          <p:nvPr/>
        </p:nvPicPr>
        <p:blipFill rotWithShape="1">
          <a:blip r:embed="rId4">
            <a:alphaModFix/>
          </a:blip>
          <a:srcRect b="17542" l="5702" r="5051" t="20668"/>
          <a:stretch/>
        </p:blipFill>
        <p:spPr>
          <a:xfrm>
            <a:off x="432450" y="2835488"/>
            <a:ext cx="4020951" cy="479562"/>
          </a:xfrm>
          <a:prstGeom prst="rect">
            <a:avLst/>
          </a:prstGeom>
          <a:noFill/>
          <a:ln>
            <a:noFill/>
          </a:ln>
        </p:spPr>
      </p:pic>
      <p:pic>
        <p:nvPicPr>
          <p:cNvPr id="376" name="Google Shape;376;p28"/>
          <p:cNvPicPr preferRelativeResize="0"/>
          <p:nvPr/>
        </p:nvPicPr>
        <p:blipFill rotWithShape="1">
          <a:blip r:embed="rId5">
            <a:alphaModFix/>
          </a:blip>
          <a:srcRect b="20230" l="0" r="0" t="9083"/>
          <a:stretch/>
        </p:blipFill>
        <p:spPr>
          <a:xfrm>
            <a:off x="4149750" y="3786000"/>
            <a:ext cx="4582250" cy="479550"/>
          </a:xfrm>
          <a:prstGeom prst="rect">
            <a:avLst/>
          </a:prstGeom>
          <a:noFill/>
          <a:ln>
            <a:noFill/>
          </a:ln>
        </p:spPr>
      </p:pic>
      <p:sp>
        <p:nvSpPr>
          <p:cNvPr id="377" name="Google Shape;377;p28"/>
          <p:cNvSpPr/>
          <p:nvPr/>
        </p:nvSpPr>
        <p:spPr>
          <a:xfrm>
            <a:off x="772900" y="17022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MesNet</a:t>
            </a:r>
            <a:endParaRPr/>
          </a:p>
        </p:txBody>
      </p:sp>
      <p:sp>
        <p:nvSpPr>
          <p:cNvPr id="378" name="Google Shape;378;p28"/>
          <p:cNvSpPr/>
          <p:nvPr/>
        </p:nvSpPr>
        <p:spPr>
          <a:xfrm flipH="1">
            <a:off x="4761125" y="27616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Orig. prediction</a:t>
            </a:r>
            <a:endParaRPr/>
          </a:p>
        </p:txBody>
      </p:sp>
      <p:sp>
        <p:nvSpPr>
          <p:cNvPr id="379" name="Google Shape;37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Covariance prediction model</a:t>
            </a:r>
            <a:endParaRPr/>
          </a:p>
          <a:p>
            <a:pPr indent="0" lvl="0" marL="0" rtl="0" algn="l">
              <a:spcBef>
                <a:spcPts val="0"/>
              </a:spcBef>
              <a:spcAft>
                <a:spcPts val="0"/>
              </a:spcAft>
              <a:buNone/>
            </a:pPr>
            <a:r>
              <a:t/>
            </a:r>
            <a:endParaRPr/>
          </a:p>
        </p:txBody>
      </p:sp>
      <p:sp>
        <p:nvSpPr>
          <p:cNvPr id="385" name="Google Shape;38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6" name="Google Shape;386;p29"/>
          <p:cNvPicPr preferRelativeResize="0"/>
          <p:nvPr/>
        </p:nvPicPr>
        <p:blipFill rotWithShape="1">
          <a:blip r:embed="rId3">
            <a:alphaModFix/>
          </a:blip>
          <a:srcRect b="-13340" l="-13340" r="0" t="0"/>
          <a:stretch/>
        </p:blipFill>
        <p:spPr>
          <a:xfrm>
            <a:off x="1786150" y="1419700"/>
            <a:ext cx="7185051" cy="1050850"/>
          </a:xfrm>
          <a:prstGeom prst="rect">
            <a:avLst/>
          </a:prstGeom>
          <a:noFill/>
          <a:ln>
            <a:noFill/>
          </a:ln>
        </p:spPr>
      </p:pic>
      <p:pic>
        <p:nvPicPr>
          <p:cNvPr id="387" name="Google Shape;387;p29"/>
          <p:cNvPicPr preferRelativeResize="0"/>
          <p:nvPr/>
        </p:nvPicPr>
        <p:blipFill rotWithShape="1">
          <a:blip r:embed="rId4">
            <a:alphaModFix/>
          </a:blip>
          <a:srcRect b="17542" l="5702" r="5051" t="20668"/>
          <a:stretch/>
        </p:blipFill>
        <p:spPr>
          <a:xfrm>
            <a:off x="432450" y="2835488"/>
            <a:ext cx="4020951" cy="479562"/>
          </a:xfrm>
          <a:prstGeom prst="rect">
            <a:avLst/>
          </a:prstGeom>
          <a:noFill/>
          <a:ln>
            <a:noFill/>
          </a:ln>
        </p:spPr>
      </p:pic>
      <p:pic>
        <p:nvPicPr>
          <p:cNvPr id="388" name="Google Shape;388;p29"/>
          <p:cNvPicPr preferRelativeResize="0"/>
          <p:nvPr/>
        </p:nvPicPr>
        <p:blipFill rotWithShape="1">
          <a:blip r:embed="rId5">
            <a:alphaModFix/>
          </a:blip>
          <a:srcRect b="20230" l="0" r="0" t="9083"/>
          <a:stretch/>
        </p:blipFill>
        <p:spPr>
          <a:xfrm>
            <a:off x="4149750" y="3786000"/>
            <a:ext cx="4582250" cy="479550"/>
          </a:xfrm>
          <a:prstGeom prst="rect">
            <a:avLst/>
          </a:prstGeom>
          <a:noFill/>
          <a:ln>
            <a:noFill/>
          </a:ln>
        </p:spPr>
      </p:pic>
      <p:sp>
        <p:nvSpPr>
          <p:cNvPr id="389" name="Google Shape;389;p29"/>
          <p:cNvSpPr/>
          <p:nvPr/>
        </p:nvSpPr>
        <p:spPr>
          <a:xfrm>
            <a:off x="772900" y="17022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MesNet</a:t>
            </a:r>
            <a:endParaRPr/>
          </a:p>
        </p:txBody>
      </p:sp>
      <p:sp>
        <p:nvSpPr>
          <p:cNvPr id="390" name="Google Shape;390;p29"/>
          <p:cNvSpPr/>
          <p:nvPr/>
        </p:nvSpPr>
        <p:spPr>
          <a:xfrm flipH="1">
            <a:off x="4761125" y="27616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Orig. prediction</a:t>
            </a:r>
            <a:endParaRPr/>
          </a:p>
        </p:txBody>
      </p:sp>
      <p:sp>
        <p:nvSpPr>
          <p:cNvPr id="391" name="Google Shape;391;p29"/>
          <p:cNvSpPr/>
          <p:nvPr/>
        </p:nvSpPr>
        <p:spPr>
          <a:xfrm>
            <a:off x="1915900" y="36834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Ours</a:t>
            </a:r>
            <a:endParaRPr/>
          </a:p>
        </p:txBody>
      </p:sp>
      <p:sp>
        <p:nvSpPr>
          <p:cNvPr id="392" name="Google Shape;39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 result(low number of epochs 4/6000)</a:t>
            </a:r>
            <a:endParaRPr/>
          </a:p>
        </p:txBody>
      </p:sp>
      <p:sp>
        <p:nvSpPr>
          <p:cNvPr id="398" name="Google Shape;39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99" name="Google Shape;399;p30"/>
          <p:cNvPicPr preferRelativeResize="0"/>
          <p:nvPr/>
        </p:nvPicPr>
        <p:blipFill rotWithShape="1">
          <a:blip r:embed="rId3">
            <a:alphaModFix/>
          </a:blip>
          <a:srcRect b="5016" l="9962" r="9438" t="8642"/>
          <a:stretch/>
        </p:blipFill>
        <p:spPr>
          <a:xfrm>
            <a:off x="460050" y="1229225"/>
            <a:ext cx="3597700" cy="1850675"/>
          </a:xfrm>
          <a:prstGeom prst="rect">
            <a:avLst/>
          </a:prstGeom>
          <a:noFill/>
          <a:ln>
            <a:noFill/>
          </a:ln>
        </p:spPr>
      </p:pic>
      <p:pic>
        <p:nvPicPr>
          <p:cNvPr id="400" name="Google Shape;400;p30"/>
          <p:cNvPicPr preferRelativeResize="0"/>
          <p:nvPr/>
        </p:nvPicPr>
        <p:blipFill rotWithShape="1">
          <a:blip r:embed="rId4">
            <a:alphaModFix/>
          </a:blip>
          <a:srcRect b="4935" l="6184" r="5973" t="8931"/>
          <a:stretch/>
        </p:blipFill>
        <p:spPr>
          <a:xfrm>
            <a:off x="4358800" y="1202250"/>
            <a:ext cx="3880835" cy="1902600"/>
          </a:xfrm>
          <a:prstGeom prst="rect">
            <a:avLst/>
          </a:prstGeom>
          <a:noFill/>
          <a:ln>
            <a:noFill/>
          </a:ln>
        </p:spPr>
      </p:pic>
      <p:pic>
        <p:nvPicPr>
          <p:cNvPr id="401" name="Google Shape;401;p30"/>
          <p:cNvPicPr preferRelativeResize="0"/>
          <p:nvPr/>
        </p:nvPicPr>
        <p:blipFill rotWithShape="1">
          <a:blip r:embed="rId5">
            <a:alphaModFix/>
          </a:blip>
          <a:srcRect b="63519" l="8644" r="8635" t="8216"/>
          <a:stretch/>
        </p:blipFill>
        <p:spPr>
          <a:xfrm>
            <a:off x="629700" y="3269025"/>
            <a:ext cx="7563425" cy="1292200"/>
          </a:xfrm>
          <a:prstGeom prst="rect">
            <a:avLst/>
          </a:prstGeom>
          <a:noFill/>
          <a:ln>
            <a:noFill/>
          </a:ln>
        </p:spPr>
      </p:pic>
      <p:sp>
        <p:nvSpPr>
          <p:cNvPr id="402" name="Google Shape;40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1"/>
          <p:cNvSpPr txBox="1"/>
          <p:nvPr>
            <p:ph type="title"/>
          </p:nvPr>
        </p:nvSpPr>
        <p:spPr>
          <a:xfrm>
            <a:off x="311700" y="40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a:t>
            </a:r>
            <a:r>
              <a:rPr lang="en"/>
              <a:t> and </a:t>
            </a:r>
            <a:r>
              <a:rPr lang="en"/>
              <a:t>analysis</a:t>
            </a:r>
            <a:endParaRPr/>
          </a:p>
        </p:txBody>
      </p:sp>
      <p:sp>
        <p:nvSpPr>
          <p:cNvPr id="408" name="Google Shape;40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09" name="Google Shape;409;p31"/>
          <p:cNvPicPr preferRelativeResize="0"/>
          <p:nvPr/>
        </p:nvPicPr>
        <p:blipFill>
          <a:blip r:embed="rId3">
            <a:alphaModFix/>
          </a:blip>
          <a:stretch>
            <a:fillRect/>
          </a:stretch>
        </p:blipFill>
        <p:spPr>
          <a:xfrm>
            <a:off x="762700" y="1152475"/>
            <a:ext cx="7233200" cy="3616600"/>
          </a:xfrm>
          <a:prstGeom prst="rect">
            <a:avLst/>
          </a:prstGeom>
          <a:noFill/>
          <a:ln>
            <a:noFill/>
          </a:ln>
        </p:spPr>
      </p:pic>
      <p:sp>
        <p:nvSpPr>
          <p:cNvPr id="410" name="Google Shape;41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 analysis</a:t>
            </a:r>
            <a:endParaRPr/>
          </a:p>
        </p:txBody>
      </p:sp>
      <p:sp>
        <p:nvSpPr>
          <p:cNvPr id="416" name="Google Shape;41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17" name="Google Shape;417;p32"/>
          <p:cNvPicPr preferRelativeResize="0"/>
          <p:nvPr/>
        </p:nvPicPr>
        <p:blipFill>
          <a:blip r:embed="rId3">
            <a:alphaModFix/>
          </a:blip>
          <a:stretch>
            <a:fillRect/>
          </a:stretch>
        </p:blipFill>
        <p:spPr>
          <a:xfrm>
            <a:off x="5125125" y="1152472"/>
            <a:ext cx="3920825" cy="3913575"/>
          </a:xfrm>
          <a:prstGeom prst="rect">
            <a:avLst/>
          </a:prstGeom>
          <a:noFill/>
          <a:ln>
            <a:noFill/>
          </a:ln>
        </p:spPr>
      </p:pic>
      <p:pic>
        <p:nvPicPr>
          <p:cNvPr id="418" name="Google Shape;418;p32"/>
          <p:cNvPicPr preferRelativeResize="0"/>
          <p:nvPr/>
        </p:nvPicPr>
        <p:blipFill rotWithShape="1">
          <a:blip r:embed="rId4">
            <a:alphaModFix/>
          </a:blip>
          <a:srcRect b="18857" l="16035" r="10201" t="0"/>
          <a:stretch/>
        </p:blipFill>
        <p:spPr>
          <a:xfrm>
            <a:off x="423250" y="1152475"/>
            <a:ext cx="3330849" cy="850100"/>
          </a:xfrm>
          <a:prstGeom prst="rect">
            <a:avLst/>
          </a:prstGeom>
          <a:noFill/>
          <a:ln>
            <a:noFill/>
          </a:ln>
        </p:spPr>
      </p:pic>
      <p:sp>
        <p:nvSpPr>
          <p:cNvPr id="419" name="Google Shape;41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 </a:t>
            </a:r>
            <a:r>
              <a:rPr lang="en"/>
              <a:t>analysis</a:t>
            </a:r>
            <a:endParaRPr/>
          </a:p>
        </p:txBody>
      </p:sp>
      <p:sp>
        <p:nvSpPr>
          <p:cNvPr id="425" name="Google Shape;42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26" name="Google Shape;426;p33"/>
          <p:cNvPicPr preferRelativeResize="0"/>
          <p:nvPr/>
        </p:nvPicPr>
        <p:blipFill>
          <a:blip r:embed="rId3">
            <a:alphaModFix/>
          </a:blip>
          <a:stretch>
            <a:fillRect/>
          </a:stretch>
        </p:blipFill>
        <p:spPr>
          <a:xfrm>
            <a:off x="5125125" y="1152472"/>
            <a:ext cx="3920825" cy="3913575"/>
          </a:xfrm>
          <a:prstGeom prst="rect">
            <a:avLst/>
          </a:prstGeom>
          <a:noFill/>
          <a:ln>
            <a:noFill/>
          </a:ln>
        </p:spPr>
      </p:pic>
      <p:pic>
        <p:nvPicPr>
          <p:cNvPr id="427" name="Google Shape;427;p33"/>
          <p:cNvPicPr preferRelativeResize="0"/>
          <p:nvPr/>
        </p:nvPicPr>
        <p:blipFill rotWithShape="1">
          <a:blip r:embed="rId4">
            <a:alphaModFix/>
          </a:blip>
          <a:srcRect b="18857" l="16035" r="10201" t="0"/>
          <a:stretch/>
        </p:blipFill>
        <p:spPr>
          <a:xfrm>
            <a:off x="423250" y="1152475"/>
            <a:ext cx="3330849" cy="850100"/>
          </a:xfrm>
          <a:prstGeom prst="rect">
            <a:avLst/>
          </a:prstGeom>
          <a:noFill/>
          <a:ln>
            <a:noFill/>
          </a:ln>
        </p:spPr>
      </p:pic>
      <p:pic>
        <p:nvPicPr>
          <p:cNvPr id="428" name="Google Shape;428;p33"/>
          <p:cNvPicPr preferRelativeResize="0"/>
          <p:nvPr/>
        </p:nvPicPr>
        <p:blipFill rotWithShape="1">
          <a:blip r:embed="rId5">
            <a:alphaModFix/>
          </a:blip>
          <a:srcRect b="6736" l="8468" r="9477" t="7880"/>
          <a:stretch/>
        </p:blipFill>
        <p:spPr>
          <a:xfrm>
            <a:off x="70700" y="2137325"/>
            <a:ext cx="5130475" cy="2456725"/>
          </a:xfrm>
          <a:prstGeom prst="rect">
            <a:avLst/>
          </a:prstGeom>
          <a:noFill/>
          <a:ln>
            <a:noFill/>
          </a:ln>
        </p:spPr>
      </p:pic>
      <p:sp>
        <p:nvSpPr>
          <p:cNvPr id="429" name="Google Shape;42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4"/>
          <p:cNvSpPr txBox="1"/>
          <p:nvPr/>
        </p:nvSpPr>
        <p:spPr>
          <a:xfrm>
            <a:off x="393925" y="305750"/>
            <a:ext cx="8777400" cy="4610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800"/>
              </a:spcBef>
              <a:spcAft>
                <a:spcPts val="0"/>
              </a:spcAft>
              <a:buNone/>
            </a:pPr>
            <a:r>
              <a:rPr lang="en" sz="2500">
                <a:solidFill>
                  <a:schemeClr val="dk1"/>
                </a:solidFill>
              </a:rPr>
              <a:t>Limitations</a:t>
            </a:r>
            <a:endParaRPr sz="2500">
              <a:solidFill>
                <a:schemeClr val="dk1"/>
              </a:solidFill>
            </a:endParaRPr>
          </a:p>
          <a:p>
            <a:pPr indent="-323850" lvl="0" marL="457200" rtl="0" algn="l">
              <a:lnSpc>
                <a:spcPct val="150000"/>
              </a:lnSpc>
              <a:spcBef>
                <a:spcPts val="1200"/>
              </a:spcBef>
              <a:spcAft>
                <a:spcPts val="0"/>
              </a:spcAft>
              <a:buClr>
                <a:schemeClr val="dk1"/>
              </a:buClr>
              <a:buSzPts val="1500"/>
              <a:buChar char="●"/>
            </a:pPr>
            <a:r>
              <a:rPr lang="en" sz="1500">
                <a:solidFill>
                  <a:schemeClr val="dk1"/>
                </a:solidFill>
              </a:rPr>
              <a:t>Sensor Dependence: Relies heavily on specific sensor configurations.</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Lost Function: Only translation error</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Hard to find proper constraints as Pseudo-measurements for general problem</a:t>
            </a:r>
            <a:endParaRPr sz="1500">
              <a:solidFill>
                <a:schemeClr val="dk1"/>
              </a:solidFill>
            </a:endParaRPr>
          </a:p>
          <a:p>
            <a:pPr indent="0" lvl="0" marL="0" rtl="0" algn="l">
              <a:lnSpc>
                <a:spcPct val="150000"/>
              </a:lnSpc>
              <a:spcBef>
                <a:spcPts val="1800"/>
              </a:spcBef>
              <a:spcAft>
                <a:spcPts val="0"/>
              </a:spcAft>
              <a:buNone/>
            </a:pPr>
            <a:r>
              <a:rPr lang="en" sz="2500">
                <a:solidFill>
                  <a:schemeClr val="dk1"/>
                </a:solidFill>
              </a:rPr>
              <a:t>Future Directions</a:t>
            </a:r>
            <a:endParaRPr sz="2500">
              <a:solidFill>
                <a:schemeClr val="dk1"/>
              </a:solidFill>
            </a:endParaRPr>
          </a:p>
          <a:p>
            <a:pPr indent="-323850" lvl="0" marL="457200" rtl="0" algn="l">
              <a:lnSpc>
                <a:spcPct val="150000"/>
              </a:lnSpc>
              <a:spcBef>
                <a:spcPts val="1800"/>
              </a:spcBef>
              <a:spcAft>
                <a:spcPts val="0"/>
              </a:spcAft>
              <a:buClr>
                <a:schemeClr val="dk1"/>
              </a:buClr>
              <a:buSzPts val="1500"/>
              <a:buChar char="●"/>
            </a:pPr>
            <a:r>
              <a:rPr lang="en" sz="1500">
                <a:solidFill>
                  <a:schemeClr val="dk1"/>
                </a:solidFill>
              </a:rPr>
              <a:t>Continue to Train the whole dataset</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Account for centrifugal acceleration in propagation step</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Explore CNN Architectures: Investigate different models</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Incorporate Angular Acceleration: Enhance accuracy in dynamic scenarios like drifting</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Test with others dataset</a:t>
            </a:r>
            <a:endParaRPr sz="1500">
              <a:solidFill>
                <a:schemeClr val="dk1"/>
              </a:solidFill>
            </a:endParaRPr>
          </a:p>
        </p:txBody>
      </p:sp>
      <p:sp>
        <p:nvSpPr>
          <p:cNvPr id="435" name="Google Shape;43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35"/>
          <p:cNvPicPr preferRelativeResize="0"/>
          <p:nvPr/>
        </p:nvPicPr>
        <p:blipFill>
          <a:blip r:embed="rId3">
            <a:alphaModFix/>
          </a:blip>
          <a:stretch>
            <a:fillRect/>
          </a:stretch>
        </p:blipFill>
        <p:spPr>
          <a:xfrm>
            <a:off x="54900" y="0"/>
            <a:ext cx="9034209" cy="5143500"/>
          </a:xfrm>
          <a:prstGeom prst="rect">
            <a:avLst/>
          </a:prstGeom>
          <a:noFill/>
          <a:ln>
            <a:noFill/>
          </a:ln>
        </p:spPr>
      </p:pic>
      <p:sp>
        <p:nvSpPr>
          <p:cNvPr id="441" name="Google Shape;44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